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5557500" cy="10045700"/>
  <p:notesSz cx="15557500" cy="10045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47" d="100"/>
          <a:sy n="47" d="100"/>
        </p:scale>
        <p:origin x="112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6812" y="3114167"/>
            <a:ext cx="13223875" cy="2109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5F89E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5625592"/>
            <a:ext cx="10890250" cy="2511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5F89E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5F89E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310511"/>
            <a:ext cx="6767512" cy="6630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310511"/>
            <a:ext cx="6767512" cy="6630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5F89E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32600" y="1871040"/>
            <a:ext cx="1295400" cy="421005"/>
          </a:xfrm>
          <a:custGeom>
            <a:avLst/>
            <a:gdLst/>
            <a:ahLst/>
            <a:cxnLst/>
            <a:rect l="l" t="t" r="r" b="b"/>
            <a:pathLst>
              <a:path w="1295400" h="421005">
                <a:moveTo>
                  <a:pt x="1295400" y="0"/>
                </a:moveTo>
                <a:lnTo>
                  <a:pt x="0" y="0"/>
                </a:lnTo>
                <a:lnTo>
                  <a:pt x="0" y="420420"/>
                </a:lnTo>
                <a:lnTo>
                  <a:pt x="1295400" y="420420"/>
                </a:lnTo>
                <a:lnTo>
                  <a:pt x="1295400" y="0"/>
                </a:lnTo>
                <a:close/>
              </a:path>
            </a:pathLst>
          </a:custGeom>
          <a:solidFill>
            <a:srgbClr val="AFC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828663" y="7317561"/>
            <a:ext cx="1771650" cy="421005"/>
          </a:xfrm>
          <a:custGeom>
            <a:avLst/>
            <a:gdLst/>
            <a:ahLst/>
            <a:cxnLst/>
            <a:rect l="l" t="t" r="r" b="b"/>
            <a:pathLst>
              <a:path w="1771650" h="421004">
                <a:moveTo>
                  <a:pt x="1771650" y="0"/>
                </a:moveTo>
                <a:lnTo>
                  <a:pt x="0" y="0"/>
                </a:lnTo>
                <a:lnTo>
                  <a:pt x="0" y="420420"/>
                </a:lnTo>
                <a:lnTo>
                  <a:pt x="1771650" y="420420"/>
                </a:lnTo>
                <a:lnTo>
                  <a:pt x="1771650" y="0"/>
                </a:lnTo>
                <a:close/>
              </a:path>
            </a:pathLst>
          </a:custGeom>
          <a:solidFill>
            <a:srgbClr val="AFC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007225" y="4207586"/>
            <a:ext cx="1414780" cy="421005"/>
          </a:xfrm>
          <a:custGeom>
            <a:avLst/>
            <a:gdLst/>
            <a:ahLst/>
            <a:cxnLst/>
            <a:rect l="l" t="t" r="r" b="b"/>
            <a:pathLst>
              <a:path w="1414779" h="421004">
                <a:moveTo>
                  <a:pt x="1414399" y="0"/>
                </a:moveTo>
                <a:lnTo>
                  <a:pt x="0" y="0"/>
                </a:lnTo>
                <a:lnTo>
                  <a:pt x="0" y="420420"/>
                </a:lnTo>
                <a:lnTo>
                  <a:pt x="1414399" y="420420"/>
                </a:lnTo>
                <a:lnTo>
                  <a:pt x="1414399" y="0"/>
                </a:lnTo>
                <a:close/>
              </a:path>
            </a:pathLst>
          </a:custGeom>
          <a:solidFill>
            <a:srgbClr val="AFC5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38832" y="925068"/>
            <a:ext cx="10879835" cy="112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5F89E4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7875" y="2310511"/>
            <a:ext cx="14001750" cy="6630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89550" y="9342501"/>
            <a:ext cx="4978400" cy="502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9342501"/>
            <a:ext cx="3578225" cy="502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9342501"/>
            <a:ext cx="3578225" cy="502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Nam.morales@duocuc.c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"/>
            <a:ext cx="15553943" cy="100400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417565" y="2925585"/>
            <a:ext cx="4802505" cy="1463675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0"/>
              </a:spcBef>
            </a:pPr>
            <a:r>
              <a:rPr sz="3500" b="1" spc="-160" dirty="0">
                <a:latin typeface="Arial"/>
                <a:cs typeface="Arial"/>
              </a:rPr>
              <a:t>Bitácora</a:t>
            </a:r>
            <a:r>
              <a:rPr sz="3500" b="1" spc="-210" dirty="0">
                <a:latin typeface="Arial"/>
                <a:cs typeface="Arial"/>
              </a:rPr>
              <a:t> </a:t>
            </a:r>
            <a:r>
              <a:rPr sz="3500" b="1" spc="-150" dirty="0">
                <a:latin typeface="Arial"/>
                <a:cs typeface="Arial"/>
              </a:rPr>
              <a:t>de</a:t>
            </a:r>
            <a:r>
              <a:rPr sz="3500" b="1" spc="-180" dirty="0">
                <a:latin typeface="Arial"/>
                <a:cs typeface="Arial"/>
              </a:rPr>
              <a:t> </a:t>
            </a:r>
            <a:r>
              <a:rPr sz="3500" b="1" spc="-110" dirty="0">
                <a:latin typeface="Arial"/>
                <a:cs typeface="Arial"/>
              </a:rPr>
              <a:t>engagement</a:t>
            </a:r>
            <a:endParaRPr sz="3500">
              <a:latin typeface="Arial"/>
              <a:cs typeface="Arial"/>
            </a:endParaRPr>
          </a:p>
          <a:p>
            <a:pPr marR="443230" algn="ctr">
              <a:lnSpc>
                <a:spcPct val="100000"/>
              </a:lnSpc>
              <a:spcBef>
                <a:spcPts val="1465"/>
              </a:spcBef>
            </a:pPr>
            <a:r>
              <a:rPr sz="3500" b="1" spc="-25" dirty="0">
                <a:solidFill>
                  <a:srgbClr val="5F89E4"/>
                </a:solidFill>
                <a:latin typeface="Cambria"/>
                <a:cs typeface="Cambria"/>
              </a:rPr>
              <a:t>EA1</a:t>
            </a:r>
            <a:endParaRPr sz="3500">
              <a:latin typeface="Cambria"/>
              <a:cs typeface="Cambri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BASES</a:t>
            </a:r>
            <a:r>
              <a:rPr spc="-325" dirty="0"/>
              <a:t> </a:t>
            </a:r>
            <a:r>
              <a:rPr spc="-240" dirty="0"/>
              <a:t>DE</a:t>
            </a:r>
            <a:r>
              <a:rPr spc="-155" dirty="0"/>
              <a:t> </a:t>
            </a:r>
            <a:r>
              <a:rPr dirty="0"/>
              <a:t>LA</a:t>
            </a:r>
            <a:r>
              <a:rPr spc="-229" dirty="0"/>
              <a:t> </a:t>
            </a:r>
            <a:r>
              <a:rPr spc="-10" dirty="0"/>
              <a:t>INNOVACIÓN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80"/>
            <a:ext cx="15554325" cy="10040620"/>
          </a:xfrm>
          <a:custGeom>
            <a:avLst/>
            <a:gdLst/>
            <a:ahLst/>
            <a:cxnLst/>
            <a:rect l="l" t="t" r="r" b="b"/>
            <a:pathLst>
              <a:path w="15554325" h="10040620">
                <a:moveTo>
                  <a:pt x="15553943" y="0"/>
                </a:moveTo>
                <a:lnTo>
                  <a:pt x="0" y="0"/>
                </a:lnTo>
                <a:lnTo>
                  <a:pt x="0" y="10040111"/>
                </a:lnTo>
                <a:lnTo>
                  <a:pt x="15553943" y="10040111"/>
                </a:lnTo>
                <a:lnTo>
                  <a:pt x="15553943" y="0"/>
                </a:lnTo>
                <a:close/>
              </a:path>
            </a:pathLst>
          </a:custGeom>
          <a:solidFill>
            <a:srgbClr val="5F89E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017433"/>
              </p:ext>
            </p:extLst>
          </p:nvPr>
        </p:nvGraphicFramePr>
        <p:xfrm>
          <a:off x="2855404" y="6383464"/>
          <a:ext cx="10769281" cy="910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57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4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5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2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0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14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NOMBRE</a:t>
                      </a:r>
                      <a:r>
                        <a:rPr sz="1800" b="1" spc="-95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90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800" b="1" spc="-85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APELLIDO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5F89E4"/>
                      </a:solidFill>
                      <a:prstDash val="solid"/>
                    </a:lnL>
                    <a:lnR w="9525">
                      <a:solidFill>
                        <a:srgbClr val="5F89E4"/>
                      </a:solidFill>
                      <a:prstDash val="solid"/>
                    </a:lnR>
                    <a:lnT w="9525">
                      <a:solidFill>
                        <a:srgbClr val="5F89E4"/>
                      </a:solidFill>
                      <a:prstDash val="solid"/>
                    </a:lnT>
                    <a:lnB w="9525">
                      <a:solidFill>
                        <a:srgbClr val="5F8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45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CARRERA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5F89E4"/>
                      </a:solidFill>
                      <a:prstDash val="solid"/>
                    </a:lnL>
                    <a:lnR w="9525">
                      <a:solidFill>
                        <a:srgbClr val="5F89E4"/>
                      </a:solidFill>
                      <a:prstDash val="solid"/>
                    </a:lnR>
                    <a:lnT w="9525">
                      <a:solidFill>
                        <a:srgbClr val="5F89E4"/>
                      </a:solidFill>
                      <a:prstDash val="solid"/>
                    </a:lnT>
                    <a:lnB w="9525">
                      <a:solidFill>
                        <a:srgbClr val="5F8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90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MAIL</a:t>
                      </a:r>
                      <a:r>
                        <a:rPr sz="1800" b="1" spc="-110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90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DE</a:t>
                      </a:r>
                      <a:r>
                        <a:rPr sz="1800" b="1" spc="-100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CONTACTO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5F89E4"/>
                      </a:solidFill>
                      <a:prstDash val="solid"/>
                    </a:lnL>
                    <a:lnR w="9525">
                      <a:solidFill>
                        <a:srgbClr val="5F89E4"/>
                      </a:solidFill>
                      <a:prstDash val="solid"/>
                    </a:lnR>
                    <a:lnT w="9525">
                      <a:solidFill>
                        <a:srgbClr val="5F89E4"/>
                      </a:solidFill>
                      <a:prstDash val="solid"/>
                    </a:lnT>
                    <a:lnB w="9525">
                      <a:solidFill>
                        <a:srgbClr val="5F8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spc="-10" dirty="0">
                          <a:solidFill>
                            <a:srgbClr val="5F89E4"/>
                          </a:solidFill>
                          <a:latin typeface="Arial"/>
                          <a:cs typeface="Arial"/>
                        </a:rPr>
                        <a:t>TELÉFONO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5F89E4"/>
                      </a:solidFill>
                      <a:prstDash val="solid"/>
                    </a:lnL>
                    <a:lnR w="9525">
                      <a:solidFill>
                        <a:srgbClr val="5F89E4"/>
                      </a:solidFill>
                      <a:prstDash val="solid"/>
                    </a:lnR>
                    <a:lnT w="9525">
                      <a:solidFill>
                        <a:srgbClr val="5F89E4"/>
                      </a:solidFill>
                      <a:prstDash val="solid"/>
                    </a:lnT>
                    <a:lnB w="9525">
                      <a:solidFill>
                        <a:srgbClr val="5F8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marL="8890" algn="ctr">
                        <a:lnSpc>
                          <a:spcPts val="3229"/>
                        </a:lnSpc>
                      </a:pPr>
                      <a:r>
                        <a:rPr lang="es-US" sz="2800" spc="-10" dirty="0">
                          <a:solidFill>
                            <a:srgbClr val="5F89E4"/>
                          </a:solidFill>
                          <a:latin typeface="Tahoma"/>
                          <a:cs typeface="Tahoma"/>
                        </a:rPr>
                        <a:t>Nancy Morales</a:t>
                      </a:r>
                      <a:endParaRPr sz="28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5F89E4"/>
                      </a:solidFill>
                      <a:prstDash val="solid"/>
                    </a:lnL>
                    <a:lnR w="9525">
                      <a:solidFill>
                        <a:srgbClr val="5F89E4"/>
                      </a:solidFill>
                      <a:prstDash val="solid"/>
                    </a:lnR>
                    <a:lnT w="9525">
                      <a:solidFill>
                        <a:srgbClr val="5F89E4"/>
                      </a:solidFill>
                      <a:prstDash val="solid"/>
                    </a:lnT>
                    <a:lnB w="9525">
                      <a:solidFill>
                        <a:srgbClr val="5F8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50" spc="-10" dirty="0">
                          <a:solidFill>
                            <a:srgbClr val="5F89E4"/>
                          </a:solidFill>
                          <a:latin typeface="Tahoma"/>
                          <a:cs typeface="Tahoma"/>
                        </a:rPr>
                        <a:t>informática</a:t>
                      </a:r>
                      <a:endParaRPr sz="2350" dirty="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9525">
                      <a:solidFill>
                        <a:srgbClr val="5F89E4"/>
                      </a:solidFill>
                      <a:prstDash val="solid"/>
                    </a:lnL>
                    <a:lnR w="9525">
                      <a:solidFill>
                        <a:srgbClr val="5F89E4"/>
                      </a:solidFill>
                      <a:prstDash val="solid"/>
                    </a:lnR>
                    <a:lnT w="9525">
                      <a:solidFill>
                        <a:srgbClr val="5F89E4"/>
                      </a:solidFill>
                      <a:prstDash val="solid"/>
                    </a:lnT>
                    <a:lnB w="9525">
                      <a:solidFill>
                        <a:srgbClr val="5F8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US" sz="2350" spc="-60" dirty="0">
                          <a:solidFill>
                            <a:srgbClr val="5F89E4"/>
                          </a:solidFill>
                          <a:latin typeface="Tahoma"/>
                          <a:cs typeface="Tahoma"/>
                          <a:hlinkClick r:id="rId2"/>
                        </a:rPr>
                        <a:t>Nam.morales</a:t>
                      </a:r>
                      <a:r>
                        <a:rPr sz="2350" spc="-60" dirty="0">
                          <a:solidFill>
                            <a:srgbClr val="5F89E4"/>
                          </a:solidFill>
                          <a:latin typeface="Tahoma"/>
                          <a:cs typeface="Tahoma"/>
                          <a:hlinkClick r:id="rId2"/>
                        </a:rPr>
                        <a:t>@duocuc.cl</a:t>
                      </a:r>
                      <a:endParaRPr sz="2350" dirty="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9525">
                      <a:solidFill>
                        <a:srgbClr val="5F89E4"/>
                      </a:solidFill>
                      <a:prstDash val="solid"/>
                    </a:lnL>
                    <a:lnR w="9525">
                      <a:solidFill>
                        <a:srgbClr val="5F89E4"/>
                      </a:solidFill>
                      <a:prstDash val="solid"/>
                    </a:lnR>
                    <a:lnT w="9525">
                      <a:solidFill>
                        <a:srgbClr val="5F89E4"/>
                      </a:solidFill>
                      <a:prstDash val="solid"/>
                    </a:lnT>
                    <a:lnB w="9525">
                      <a:solidFill>
                        <a:srgbClr val="5F8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350" spc="-35" dirty="0">
                          <a:solidFill>
                            <a:srgbClr val="5F89E4"/>
                          </a:solidFill>
                          <a:latin typeface="Tahoma"/>
                          <a:cs typeface="Tahoma"/>
                        </a:rPr>
                        <a:t>+569</a:t>
                      </a:r>
                      <a:r>
                        <a:rPr lang="es-US" sz="2350" spc="-35" dirty="0">
                          <a:solidFill>
                            <a:srgbClr val="5F89E4"/>
                          </a:solidFill>
                          <a:latin typeface="Tahoma"/>
                          <a:cs typeface="Tahoma"/>
                        </a:rPr>
                        <a:t>51609631</a:t>
                      </a:r>
                      <a:endParaRPr sz="2350" dirty="0">
                        <a:latin typeface="Tahoma"/>
                        <a:cs typeface="Tahoma"/>
                      </a:endParaRPr>
                    </a:p>
                  </a:txBody>
                  <a:tcPr marL="0" marR="0" marT="34290" marB="0">
                    <a:lnL w="9525">
                      <a:solidFill>
                        <a:srgbClr val="5F89E4"/>
                      </a:solidFill>
                      <a:prstDash val="solid"/>
                    </a:lnL>
                    <a:lnR w="9525">
                      <a:solidFill>
                        <a:srgbClr val="5F89E4"/>
                      </a:solidFill>
                      <a:prstDash val="solid"/>
                    </a:lnR>
                    <a:lnT w="9525">
                      <a:solidFill>
                        <a:srgbClr val="5F89E4"/>
                      </a:solidFill>
                      <a:prstDash val="solid"/>
                    </a:lnT>
                    <a:lnB w="9525">
                      <a:solidFill>
                        <a:srgbClr val="5F89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018279" y="2857309"/>
            <a:ext cx="6513195" cy="152028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" algn="ctr">
              <a:spcBef>
                <a:spcPts val="95"/>
              </a:spcBef>
            </a:pPr>
            <a:r>
              <a:rPr sz="3200" spc="200" dirty="0">
                <a:solidFill>
                  <a:srgbClr val="FFFFFF"/>
                </a:solidFill>
              </a:rPr>
              <a:t>Equipo</a:t>
            </a:r>
            <a:r>
              <a:rPr sz="3200" spc="-35" dirty="0">
                <a:solidFill>
                  <a:srgbClr val="FFFFFF"/>
                </a:solidFill>
              </a:rPr>
              <a:t> </a:t>
            </a:r>
            <a:r>
              <a:rPr sz="3200" spc="155" dirty="0">
                <a:solidFill>
                  <a:srgbClr val="FFFFFF"/>
                </a:solidFill>
              </a:rPr>
              <a:t>nº</a:t>
            </a:r>
            <a:r>
              <a:rPr sz="3200" spc="-60" dirty="0">
                <a:solidFill>
                  <a:srgbClr val="FFFFFF"/>
                </a:solidFill>
              </a:rPr>
              <a:t> </a:t>
            </a:r>
            <a:r>
              <a:rPr sz="3200" spc="-360" dirty="0">
                <a:solidFill>
                  <a:srgbClr val="FFFFFF"/>
                </a:solidFill>
              </a:rPr>
              <a:t>(1)</a:t>
            </a:r>
            <a:br>
              <a:rPr lang="es-CL" sz="4800" spc="-360" dirty="0">
                <a:solidFill>
                  <a:srgbClr val="FFFFFF"/>
                </a:solidFill>
              </a:rPr>
            </a:br>
            <a:r>
              <a:rPr lang="es-CL" sz="6600" spc="-360" dirty="0">
                <a:solidFill>
                  <a:srgbClr val="FFFFFF"/>
                </a:solidFill>
              </a:rPr>
              <a:t>TEA SÍN BARRERA</a:t>
            </a:r>
            <a:endParaRPr sz="6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9663" y="1050670"/>
            <a:ext cx="14632940" cy="8683625"/>
            <a:chOff x="409663" y="1050670"/>
            <a:chExt cx="14632940" cy="8683625"/>
          </a:xfrm>
        </p:grpSpPr>
        <p:sp>
          <p:nvSpPr>
            <p:cNvPr id="3" name="object 3"/>
            <p:cNvSpPr/>
            <p:nvPr/>
          </p:nvSpPr>
          <p:spPr>
            <a:xfrm>
              <a:off x="420623" y="1060195"/>
              <a:ext cx="14612619" cy="8664575"/>
            </a:xfrm>
            <a:custGeom>
              <a:avLst/>
              <a:gdLst/>
              <a:ahLst/>
              <a:cxnLst/>
              <a:rect l="l" t="t" r="r" b="b"/>
              <a:pathLst>
                <a:path w="14612619" h="8664575">
                  <a:moveTo>
                    <a:pt x="127" y="2286"/>
                  </a:moveTo>
                  <a:lnTo>
                    <a:pt x="0" y="8664384"/>
                  </a:lnTo>
                  <a:lnTo>
                    <a:pt x="14611858" y="8664384"/>
                  </a:lnTo>
                  <a:lnTo>
                    <a:pt x="14612112" y="0"/>
                  </a:lnTo>
                </a:path>
              </a:pathLst>
            </a:custGeom>
            <a:ln w="19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14426" y="1061719"/>
              <a:ext cx="9751695" cy="6266180"/>
            </a:xfrm>
            <a:custGeom>
              <a:avLst/>
              <a:gdLst/>
              <a:ahLst/>
              <a:cxnLst/>
              <a:rect l="l" t="t" r="r" b="b"/>
              <a:pathLst>
                <a:path w="9751695" h="6266180">
                  <a:moveTo>
                    <a:pt x="4875758" y="3194812"/>
                  </a:moveTo>
                  <a:lnTo>
                    <a:pt x="4875758" y="6266053"/>
                  </a:lnTo>
                </a:path>
                <a:path w="9751695" h="6266180">
                  <a:moveTo>
                    <a:pt x="9746843" y="0"/>
                  </a:moveTo>
                  <a:lnTo>
                    <a:pt x="9746843" y="6266053"/>
                  </a:lnTo>
                </a:path>
                <a:path w="9751695" h="6266180">
                  <a:moveTo>
                    <a:pt x="0" y="3199638"/>
                  </a:moveTo>
                  <a:lnTo>
                    <a:pt x="9751669" y="3199638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85486" y="5820536"/>
              <a:ext cx="7868284" cy="0"/>
            </a:xfrm>
            <a:custGeom>
              <a:avLst/>
              <a:gdLst/>
              <a:ahLst/>
              <a:cxnLst/>
              <a:rect l="l" t="t" r="r" b="b"/>
              <a:pathLst>
                <a:path w="7868284">
                  <a:moveTo>
                    <a:pt x="0" y="0"/>
                  </a:moveTo>
                  <a:lnTo>
                    <a:pt x="7868158" y="0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14426" y="1061719"/>
              <a:ext cx="14622780" cy="8667115"/>
            </a:xfrm>
            <a:custGeom>
              <a:avLst/>
              <a:gdLst/>
              <a:ahLst/>
              <a:cxnLst/>
              <a:rect l="l" t="t" r="r" b="b"/>
              <a:pathLst>
                <a:path w="14622780" h="8667115">
                  <a:moveTo>
                    <a:pt x="0" y="6261227"/>
                  </a:moveTo>
                  <a:lnTo>
                    <a:pt x="14622627" y="6261227"/>
                  </a:lnTo>
                </a:path>
                <a:path w="14622780" h="8667115">
                  <a:moveTo>
                    <a:pt x="4762" y="0"/>
                  </a:moveTo>
                  <a:lnTo>
                    <a:pt x="4762" y="8666924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032354" y="1061719"/>
              <a:ext cx="0" cy="8667115"/>
            </a:xfrm>
            <a:custGeom>
              <a:avLst/>
              <a:gdLst/>
              <a:ahLst/>
              <a:cxnLst/>
              <a:rect l="l" t="t" r="r" b="b"/>
              <a:pathLst>
                <a:path h="8667115">
                  <a:moveTo>
                    <a:pt x="0" y="6108319"/>
                  </a:moveTo>
                  <a:lnTo>
                    <a:pt x="0" y="8666924"/>
                  </a:lnTo>
                </a:path>
                <a:path h="8667115">
                  <a:moveTo>
                    <a:pt x="0" y="0"/>
                  </a:moveTo>
                  <a:lnTo>
                    <a:pt x="0" y="4682490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4426" y="1066418"/>
              <a:ext cx="14622780" cy="8657590"/>
            </a:xfrm>
            <a:custGeom>
              <a:avLst/>
              <a:gdLst/>
              <a:ahLst/>
              <a:cxnLst/>
              <a:rect l="l" t="t" r="r" b="b"/>
              <a:pathLst>
                <a:path w="14622780" h="8657590">
                  <a:moveTo>
                    <a:pt x="0" y="0"/>
                  </a:moveTo>
                  <a:lnTo>
                    <a:pt x="14622627" y="0"/>
                  </a:lnTo>
                </a:path>
                <a:path w="14622780" h="8657590">
                  <a:moveTo>
                    <a:pt x="0" y="8657475"/>
                  </a:moveTo>
                  <a:lnTo>
                    <a:pt x="14622627" y="8657475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23328" y="1103517"/>
            <a:ext cx="8622030" cy="838691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100" b="1" spc="-225" dirty="0">
                <a:latin typeface="Arial"/>
                <a:cs typeface="Arial"/>
              </a:rPr>
              <a:t>1.-</a:t>
            </a:r>
            <a:r>
              <a:rPr sz="2100" b="1" spc="-85" dirty="0">
                <a:latin typeface="Arial"/>
                <a:cs typeface="Arial"/>
              </a:rPr>
              <a:t> </a:t>
            </a:r>
            <a:r>
              <a:rPr sz="2100" b="1" spc="-170" dirty="0">
                <a:latin typeface="Arial"/>
                <a:cs typeface="Arial"/>
              </a:rPr>
              <a:t>ANTECEDENTES</a:t>
            </a:r>
            <a:r>
              <a:rPr sz="2100" b="1" spc="-65" dirty="0">
                <a:latin typeface="Arial"/>
                <a:cs typeface="Arial"/>
              </a:rPr>
              <a:t> </a:t>
            </a:r>
            <a:r>
              <a:rPr sz="2100" b="1" spc="-185" dirty="0">
                <a:latin typeface="Arial"/>
                <a:cs typeface="Arial"/>
              </a:rPr>
              <a:t>DEL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CONTEXTO</a:t>
            </a:r>
            <a:endParaRPr sz="2100" dirty="0">
              <a:latin typeface="Arial"/>
              <a:cs typeface="Arial"/>
            </a:endParaRPr>
          </a:p>
          <a:p>
            <a:pPr marL="12700" marR="5080">
              <a:lnSpc>
                <a:spcPts val="1660"/>
              </a:lnSpc>
              <a:spcBef>
                <a:spcPts val="270"/>
              </a:spcBef>
            </a:pPr>
            <a:r>
              <a:rPr sz="1600" spc="-105" dirty="0">
                <a:latin typeface="Arial"/>
                <a:cs typeface="Arial"/>
              </a:rPr>
              <a:t>Investigar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5" dirty="0">
                <a:latin typeface="Arial"/>
                <a:cs typeface="Arial"/>
              </a:rPr>
              <a:t>información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spc="-130" dirty="0">
                <a:latin typeface="Arial"/>
                <a:cs typeface="Arial"/>
              </a:rPr>
              <a:t>clave</a:t>
            </a:r>
            <a:r>
              <a:rPr sz="1600" spc="-60" dirty="0">
                <a:latin typeface="Arial"/>
                <a:cs typeface="Arial"/>
              </a:rPr>
              <a:t> </a:t>
            </a:r>
            <a:r>
              <a:rPr sz="1600" spc="-125" dirty="0">
                <a:latin typeface="Arial"/>
                <a:cs typeface="Arial"/>
              </a:rPr>
              <a:t>en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torno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90" dirty="0">
                <a:latin typeface="Arial"/>
                <a:cs typeface="Arial"/>
              </a:rPr>
              <a:t>al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0" dirty="0">
                <a:latin typeface="Arial"/>
                <a:cs typeface="Arial"/>
              </a:rPr>
              <a:t>tema.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55" dirty="0">
                <a:latin typeface="Arial"/>
                <a:cs typeface="Arial"/>
              </a:rPr>
              <a:t>Buscar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05" dirty="0">
                <a:latin typeface="Arial"/>
                <a:cs typeface="Arial"/>
              </a:rPr>
              <a:t>información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spc="-155" dirty="0">
                <a:latin typeface="Arial"/>
                <a:cs typeface="Arial"/>
              </a:rPr>
              <a:t>de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10" dirty="0">
                <a:latin typeface="Arial"/>
                <a:cs typeface="Arial"/>
              </a:rPr>
              <a:t>interés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125" dirty="0">
                <a:latin typeface="Arial"/>
                <a:cs typeface="Arial"/>
              </a:rPr>
              <a:t>en</a:t>
            </a:r>
            <a:r>
              <a:rPr sz="1600" spc="-50" dirty="0">
                <a:latin typeface="Arial"/>
                <a:cs typeface="Arial"/>
              </a:rPr>
              <a:t> </a:t>
            </a:r>
            <a:r>
              <a:rPr sz="1600" spc="-120" dirty="0">
                <a:latin typeface="Arial"/>
                <a:cs typeface="Arial"/>
              </a:rPr>
              <a:t>noticias,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110" dirty="0">
                <a:latin typeface="Arial"/>
                <a:cs typeface="Arial"/>
              </a:rPr>
              <a:t>portales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114" dirty="0">
                <a:latin typeface="Arial"/>
                <a:cs typeface="Arial"/>
              </a:rPr>
              <a:t>de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60" dirty="0">
                <a:latin typeface="Arial"/>
                <a:cs typeface="Arial"/>
              </a:rPr>
              <a:t>información, </a:t>
            </a:r>
            <a:r>
              <a:rPr sz="1600" spc="-130" dirty="0">
                <a:latin typeface="Arial"/>
                <a:cs typeface="Arial"/>
              </a:rPr>
              <a:t>estadísticas,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etc.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3328" y="2322197"/>
            <a:ext cx="9533255" cy="1790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700"/>
              </a:lnSpc>
              <a:spcBef>
                <a:spcPts val="90"/>
              </a:spcBef>
            </a:pPr>
            <a:r>
              <a:rPr i="1" spc="-125" dirty="0">
                <a:latin typeface="Arial"/>
                <a:cs typeface="Arial"/>
              </a:rPr>
              <a:t>El</a:t>
            </a:r>
            <a:r>
              <a:rPr i="1" spc="-70" dirty="0">
                <a:latin typeface="Arial"/>
                <a:cs typeface="Arial"/>
              </a:rPr>
              <a:t> </a:t>
            </a:r>
            <a:r>
              <a:rPr i="1" spc="-105" dirty="0">
                <a:latin typeface="Arial"/>
                <a:cs typeface="Arial"/>
              </a:rPr>
              <a:t>Trastorno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20" dirty="0">
                <a:latin typeface="Arial"/>
                <a:cs typeface="Arial"/>
              </a:rPr>
              <a:t>del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35" dirty="0">
                <a:latin typeface="Arial"/>
                <a:cs typeface="Arial"/>
              </a:rPr>
              <a:t>Espectro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00" dirty="0">
                <a:latin typeface="Arial"/>
                <a:cs typeface="Arial"/>
              </a:rPr>
              <a:t>Autista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(TEA)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75" dirty="0">
                <a:latin typeface="Arial"/>
                <a:cs typeface="Arial"/>
              </a:rPr>
              <a:t>es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spc="-145" dirty="0">
                <a:latin typeface="Arial"/>
                <a:cs typeface="Arial"/>
              </a:rPr>
              <a:t>una</a:t>
            </a:r>
            <a:r>
              <a:rPr i="1" spc="35" dirty="0">
                <a:latin typeface="Arial"/>
                <a:cs typeface="Arial"/>
              </a:rPr>
              <a:t> </a:t>
            </a:r>
            <a:r>
              <a:rPr i="1" spc="-130" dirty="0">
                <a:latin typeface="Arial"/>
                <a:cs typeface="Arial"/>
              </a:rPr>
              <a:t>condición</a:t>
            </a:r>
            <a:r>
              <a:rPr i="1" spc="-50" dirty="0">
                <a:latin typeface="Arial"/>
                <a:cs typeface="Arial"/>
              </a:rPr>
              <a:t> </a:t>
            </a:r>
            <a:r>
              <a:rPr i="1" spc="-95" dirty="0">
                <a:latin typeface="Arial"/>
                <a:cs typeface="Arial"/>
              </a:rPr>
              <a:t>del</a:t>
            </a:r>
            <a:r>
              <a:rPr i="1" spc="-70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neurodesarrollo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40" dirty="0">
                <a:latin typeface="Arial"/>
                <a:cs typeface="Arial"/>
              </a:rPr>
              <a:t>que</a:t>
            </a:r>
            <a:r>
              <a:rPr i="1" spc="20" dirty="0">
                <a:latin typeface="Arial"/>
                <a:cs typeface="Arial"/>
              </a:rPr>
              <a:t> </a:t>
            </a:r>
            <a:r>
              <a:rPr i="1" spc="-95" dirty="0">
                <a:latin typeface="Arial"/>
                <a:cs typeface="Arial"/>
              </a:rPr>
              <a:t>afecta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100" dirty="0">
                <a:latin typeface="Arial"/>
                <a:cs typeface="Arial"/>
              </a:rPr>
              <a:t>la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120" dirty="0">
                <a:latin typeface="Arial"/>
                <a:cs typeface="Arial"/>
              </a:rPr>
              <a:t>comunicación,</a:t>
            </a:r>
            <a:r>
              <a:rPr i="1" spc="-70" dirty="0">
                <a:latin typeface="Arial"/>
                <a:cs typeface="Arial"/>
              </a:rPr>
              <a:t> </a:t>
            </a:r>
            <a:r>
              <a:rPr i="1" spc="-100" dirty="0">
                <a:latin typeface="Arial"/>
                <a:cs typeface="Arial"/>
              </a:rPr>
              <a:t>la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interacción</a:t>
            </a:r>
            <a:r>
              <a:rPr i="1" spc="-5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social</a:t>
            </a:r>
            <a:endParaRPr dirty="0">
              <a:latin typeface="Arial"/>
              <a:cs typeface="Arial"/>
            </a:endParaRPr>
          </a:p>
          <a:p>
            <a:pPr marL="12700" marR="196215">
              <a:lnSpc>
                <a:spcPct val="96600"/>
              </a:lnSpc>
              <a:spcBef>
                <a:spcPts val="20"/>
              </a:spcBef>
            </a:pPr>
            <a:r>
              <a:rPr i="1" spc="-155" dirty="0">
                <a:latin typeface="Arial"/>
                <a:cs typeface="Arial"/>
              </a:rPr>
              <a:t>y</a:t>
            </a:r>
            <a:r>
              <a:rPr i="1" spc="-35" dirty="0">
                <a:latin typeface="Arial"/>
                <a:cs typeface="Arial"/>
              </a:rPr>
              <a:t> </a:t>
            </a:r>
            <a:r>
              <a:rPr i="1" spc="-90" dirty="0">
                <a:latin typeface="Arial"/>
                <a:cs typeface="Arial"/>
              </a:rPr>
              <a:t>el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05" dirty="0">
                <a:latin typeface="Arial"/>
                <a:cs typeface="Arial"/>
              </a:rPr>
              <a:t>comportamiento.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60" dirty="0">
                <a:latin typeface="Arial"/>
                <a:cs typeface="Arial"/>
              </a:rPr>
              <a:t>En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140" dirty="0">
                <a:latin typeface="Arial"/>
                <a:cs typeface="Arial"/>
              </a:rPr>
              <a:t>niños,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185" dirty="0">
                <a:latin typeface="Arial"/>
                <a:cs typeface="Arial"/>
              </a:rPr>
              <a:t>se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00" dirty="0">
                <a:latin typeface="Arial"/>
                <a:cs typeface="Arial"/>
              </a:rPr>
              <a:t>manifiesta</a:t>
            </a:r>
            <a:r>
              <a:rPr i="1" spc="-40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de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40" dirty="0">
                <a:latin typeface="Arial"/>
                <a:cs typeface="Arial"/>
              </a:rPr>
              <a:t>diversas</a:t>
            </a:r>
            <a:r>
              <a:rPr i="1" spc="-85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formas,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95" dirty="0">
                <a:latin typeface="Arial"/>
                <a:cs typeface="Arial"/>
              </a:rPr>
              <a:t>lo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spc="-140" dirty="0">
                <a:latin typeface="Arial"/>
                <a:cs typeface="Arial"/>
              </a:rPr>
              <a:t>que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-110" dirty="0">
                <a:latin typeface="Arial"/>
                <a:cs typeface="Arial"/>
              </a:rPr>
              <a:t>requiere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10" dirty="0">
                <a:latin typeface="Arial"/>
                <a:cs typeface="Arial"/>
              </a:rPr>
              <a:t>estrategias</a:t>
            </a:r>
            <a:r>
              <a:rPr i="1" spc="-85" dirty="0">
                <a:latin typeface="Arial"/>
                <a:cs typeface="Arial"/>
              </a:rPr>
              <a:t> </a:t>
            </a:r>
            <a:r>
              <a:rPr i="1" spc="-125" dirty="0">
                <a:latin typeface="Arial"/>
                <a:cs typeface="Arial"/>
              </a:rPr>
              <a:t>personalizadas</a:t>
            </a:r>
            <a:r>
              <a:rPr i="1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de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apoyo. </a:t>
            </a:r>
            <a:r>
              <a:rPr i="1" spc="-105" dirty="0">
                <a:latin typeface="Arial"/>
                <a:cs typeface="Arial"/>
              </a:rPr>
              <a:t>Actualmente,</a:t>
            </a:r>
            <a:r>
              <a:rPr i="1" spc="-70" dirty="0">
                <a:latin typeface="Arial"/>
                <a:cs typeface="Arial"/>
              </a:rPr>
              <a:t> </a:t>
            </a:r>
            <a:r>
              <a:rPr i="1" spc="-90" dirty="0">
                <a:latin typeface="Arial"/>
                <a:cs typeface="Arial"/>
              </a:rPr>
              <a:t>el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165" dirty="0">
                <a:latin typeface="Arial"/>
                <a:cs typeface="Arial"/>
              </a:rPr>
              <a:t>uso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-155" dirty="0">
                <a:latin typeface="Arial"/>
                <a:cs typeface="Arial"/>
              </a:rPr>
              <a:t>de</a:t>
            </a:r>
            <a:r>
              <a:rPr i="1" spc="15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tecnologías</a:t>
            </a:r>
            <a:r>
              <a:rPr i="1" spc="-5" dirty="0">
                <a:latin typeface="Arial"/>
                <a:cs typeface="Arial"/>
              </a:rPr>
              <a:t> </a:t>
            </a:r>
            <a:r>
              <a:rPr i="1" spc="-110" dirty="0">
                <a:latin typeface="Arial"/>
                <a:cs typeface="Arial"/>
              </a:rPr>
              <a:t>digitales</a:t>
            </a:r>
            <a:r>
              <a:rPr i="1" spc="-10" dirty="0">
                <a:latin typeface="Arial"/>
                <a:cs typeface="Arial"/>
              </a:rPr>
              <a:t> </a:t>
            </a:r>
            <a:r>
              <a:rPr i="1" spc="-130" dirty="0">
                <a:latin typeface="Arial"/>
                <a:cs typeface="Arial"/>
              </a:rPr>
              <a:t>ha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demostrado</a:t>
            </a:r>
            <a:r>
              <a:rPr i="1" spc="-50" dirty="0">
                <a:latin typeface="Arial"/>
                <a:cs typeface="Arial"/>
              </a:rPr>
              <a:t> </a:t>
            </a:r>
            <a:r>
              <a:rPr i="1" spc="-145" dirty="0">
                <a:latin typeface="Arial"/>
                <a:cs typeface="Arial"/>
              </a:rPr>
              <a:t>ser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120" dirty="0">
                <a:latin typeface="Arial"/>
                <a:cs typeface="Arial"/>
              </a:rPr>
              <a:t>una</a:t>
            </a:r>
            <a:r>
              <a:rPr i="1" spc="-40" dirty="0">
                <a:latin typeface="Arial"/>
                <a:cs typeface="Arial"/>
              </a:rPr>
              <a:t> </a:t>
            </a:r>
            <a:r>
              <a:rPr i="1" spc="-100" dirty="0">
                <a:latin typeface="Arial"/>
                <a:cs typeface="Arial"/>
              </a:rPr>
              <a:t>herramienta</a:t>
            </a:r>
            <a:r>
              <a:rPr i="1" spc="-50" dirty="0">
                <a:latin typeface="Arial"/>
                <a:cs typeface="Arial"/>
              </a:rPr>
              <a:t> </a:t>
            </a:r>
            <a:r>
              <a:rPr i="1" spc="-95" dirty="0">
                <a:latin typeface="Arial"/>
                <a:cs typeface="Arial"/>
              </a:rPr>
              <a:t>efectiva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120" dirty="0">
                <a:latin typeface="Arial"/>
                <a:cs typeface="Arial"/>
              </a:rPr>
              <a:t>para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105" dirty="0">
                <a:latin typeface="Arial"/>
                <a:cs typeface="Arial"/>
              </a:rPr>
              <a:t>favorecer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90" dirty="0">
                <a:latin typeface="Arial"/>
                <a:cs typeface="Arial"/>
              </a:rPr>
              <a:t>el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110" dirty="0">
                <a:latin typeface="Arial"/>
                <a:cs typeface="Arial"/>
              </a:rPr>
              <a:t>aprendizaje</a:t>
            </a:r>
            <a:r>
              <a:rPr i="1" spc="20" dirty="0">
                <a:latin typeface="Arial"/>
                <a:cs typeface="Arial"/>
              </a:rPr>
              <a:t> </a:t>
            </a:r>
            <a:r>
              <a:rPr i="1" spc="-155" dirty="0">
                <a:latin typeface="Arial"/>
                <a:cs typeface="Arial"/>
              </a:rPr>
              <a:t>y</a:t>
            </a:r>
            <a:r>
              <a:rPr i="1" spc="-30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la </a:t>
            </a:r>
            <a:r>
              <a:rPr i="1" spc="-130" dirty="0">
                <a:latin typeface="Arial"/>
                <a:cs typeface="Arial"/>
              </a:rPr>
              <a:t>comunicación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-125" dirty="0">
                <a:latin typeface="Arial"/>
                <a:cs typeface="Arial"/>
              </a:rPr>
              <a:t>en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40" dirty="0">
                <a:latin typeface="Arial"/>
                <a:cs typeface="Arial"/>
              </a:rPr>
              <a:t>niños</a:t>
            </a:r>
            <a:r>
              <a:rPr i="1" spc="-85" dirty="0">
                <a:latin typeface="Arial"/>
                <a:cs typeface="Arial"/>
              </a:rPr>
              <a:t> </a:t>
            </a:r>
            <a:r>
              <a:rPr i="1" spc="-140" dirty="0">
                <a:latin typeface="Arial"/>
                <a:cs typeface="Arial"/>
              </a:rPr>
              <a:t>con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40" dirty="0">
                <a:latin typeface="Arial"/>
                <a:cs typeface="Arial"/>
              </a:rPr>
              <a:t>TEA.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145" dirty="0">
                <a:latin typeface="Arial"/>
                <a:cs typeface="Arial"/>
              </a:rPr>
              <a:t>Sin</a:t>
            </a:r>
            <a:r>
              <a:rPr i="1" spc="-50" dirty="0">
                <a:latin typeface="Arial"/>
                <a:cs typeface="Arial"/>
              </a:rPr>
              <a:t> </a:t>
            </a:r>
            <a:r>
              <a:rPr i="1" spc="-120" dirty="0">
                <a:latin typeface="Arial"/>
                <a:cs typeface="Arial"/>
              </a:rPr>
              <a:t>embargo,</a:t>
            </a:r>
            <a:r>
              <a:rPr i="1" spc="5" dirty="0">
                <a:latin typeface="Arial"/>
                <a:cs typeface="Arial"/>
              </a:rPr>
              <a:t> </a:t>
            </a:r>
            <a:r>
              <a:rPr i="1" spc="-135" dirty="0">
                <a:latin typeface="Arial"/>
                <a:cs typeface="Arial"/>
              </a:rPr>
              <a:t>aún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20" dirty="0">
                <a:latin typeface="Arial"/>
                <a:cs typeface="Arial"/>
              </a:rPr>
              <a:t>existen</a:t>
            </a:r>
            <a:r>
              <a:rPr i="1" spc="30" dirty="0">
                <a:latin typeface="Arial"/>
                <a:cs typeface="Arial"/>
              </a:rPr>
              <a:t> </a:t>
            </a:r>
            <a:r>
              <a:rPr i="1" spc="-105" dirty="0">
                <a:latin typeface="Arial"/>
                <a:cs typeface="Arial"/>
              </a:rPr>
              <a:t>limitaciones</a:t>
            </a:r>
            <a:r>
              <a:rPr i="1" spc="-90" dirty="0">
                <a:latin typeface="Arial"/>
                <a:cs typeface="Arial"/>
              </a:rPr>
              <a:t> </a:t>
            </a:r>
            <a:r>
              <a:rPr i="1" spc="-125" dirty="0">
                <a:latin typeface="Arial"/>
                <a:cs typeface="Arial"/>
              </a:rPr>
              <a:t>en</a:t>
            </a:r>
            <a:r>
              <a:rPr i="1" spc="25" dirty="0">
                <a:latin typeface="Arial"/>
                <a:cs typeface="Arial"/>
              </a:rPr>
              <a:t> </a:t>
            </a:r>
            <a:r>
              <a:rPr i="1" spc="-125" dirty="0">
                <a:latin typeface="Arial"/>
                <a:cs typeface="Arial"/>
              </a:rPr>
              <a:t>el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60" dirty="0">
                <a:latin typeface="Arial"/>
                <a:cs typeface="Arial"/>
              </a:rPr>
              <a:t>acceso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45" dirty="0">
                <a:latin typeface="Arial"/>
                <a:cs typeface="Arial"/>
              </a:rPr>
              <a:t>a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130" dirty="0">
                <a:latin typeface="Arial"/>
                <a:cs typeface="Arial"/>
              </a:rPr>
              <a:t>aplicaciones</a:t>
            </a:r>
            <a:r>
              <a:rPr i="1" spc="-85" dirty="0">
                <a:latin typeface="Arial"/>
                <a:cs typeface="Arial"/>
              </a:rPr>
              <a:t> </a:t>
            </a:r>
            <a:r>
              <a:rPr i="1" spc="-130" dirty="0">
                <a:latin typeface="Arial"/>
                <a:cs typeface="Arial"/>
              </a:rPr>
              <a:t>adaptadas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spc="-145" dirty="0">
                <a:latin typeface="Arial"/>
                <a:cs typeface="Arial"/>
              </a:rPr>
              <a:t>a</a:t>
            </a:r>
            <a:r>
              <a:rPr i="1" spc="-45" dirty="0">
                <a:latin typeface="Arial"/>
                <a:cs typeface="Arial"/>
              </a:rPr>
              <a:t> </a:t>
            </a:r>
            <a:r>
              <a:rPr i="1" spc="-25" dirty="0">
                <a:latin typeface="Arial"/>
                <a:cs typeface="Arial"/>
              </a:rPr>
              <a:t>sus </a:t>
            </a:r>
            <a:r>
              <a:rPr i="1" spc="-140" dirty="0">
                <a:latin typeface="Arial"/>
                <a:cs typeface="Arial"/>
              </a:rPr>
              <a:t>necesidades,</a:t>
            </a:r>
            <a:r>
              <a:rPr i="1" spc="-75" dirty="0">
                <a:latin typeface="Arial"/>
                <a:cs typeface="Arial"/>
              </a:rPr>
              <a:t> </a:t>
            </a:r>
            <a:r>
              <a:rPr i="1" spc="-90" dirty="0">
                <a:latin typeface="Arial"/>
                <a:cs typeface="Arial"/>
              </a:rPr>
              <a:t>lo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que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95" dirty="0">
                <a:latin typeface="Arial"/>
                <a:cs typeface="Arial"/>
              </a:rPr>
              <a:t>justifica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90" dirty="0">
                <a:latin typeface="Arial"/>
                <a:cs typeface="Arial"/>
              </a:rPr>
              <a:t>el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110" dirty="0">
                <a:latin typeface="Arial"/>
                <a:cs typeface="Arial"/>
              </a:rPr>
              <a:t>desarrollo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14" dirty="0">
                <a:latin typeface="Arial"/>
                <a:cs typeface="Arial"/>
              </a:rPr>
              <a:t>de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140" dirty="0">
                <a:latin typeface="Arial"/>
                <a:cs typeface="Arial"/>
              </a:rPr>
              <a:t>nuevas</a:t>
            </a:r>
            <a:r>
              <a:rPr i="1" spc="-95" dirty="0">
                <a:latin typeface="Arial"/>
                <a:cs typeface="Arial"/>
              </a:rPr>
              <a:t> </a:t>
            </a:r>
            <a:r>
              <a:rPr i="1" spc="-135" dirty="0">
                <a:latin typeface="Arial"/>
                <a:cs typeface="Arial"/>
              </a:rPr>
              <a:t>soluciones</a:t>
            </a:r>
            <a:r>
              <a:rPr i="1" spc="-15" dirty="0">
                <a:latin typeface="Arial"/>
                <a:cs typeface="Arial"/>
              </a:rPr>
              <a:t> </a:t>
            </a:r>
            <a:r>
              <a:rPr i="1" spc="-140" dirty="0">
                <a:latin typeface="Arial"/>
                <a:cs typeface="Arial"/>
              </a:rPr>
              <a:t>que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i="1" spc="-125" dirty="0">
                <a:latin typeface="Arial"/>
                <a:cs typeface="Arial"/>
              </a:rPr>
              <a:t>promuevan</a:t>
            </a:r>
            <a:r>
              <a:rPr i="1" spc="-60" dirty="0">
                <a:latin typeface="Arial"/>
                <a:cs typeface="Arial"/>
              </a:rPr>
              <a:t> </a:t>
            </a:r>
            <a:r>
              <a:rPr i="1" spc="-150" dirty="0">
                <a:latin typeface="Arial"/>
                <a:cs typeface="Arial"/>
              </a:rPr>
              <a:t>su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00" dirty="0">
                <a:latin typeface="Arial"/>
                <a:cs typeface="Arial"/>
              </a:rPr>
              <a:t>autonomía</a:t>
            </a:r>
            <a:r>
              <a:rPr i="1" spc="-55" dirty="0">
                <a:latin typeface="Arial"/>
                <a:cs typeface="Arial"/>
              </a:rPr>
              <a:t> </a:t>
            </a:r>
            <a:r>
              <a:rPr i="1" spc="-125" dirty="0">
                <a:latin typeface="Arial"/>
                <a:cs typeface="Arial"/>
              </a:rPr>
              <a:t>e</a:t>
            </a:r>
            <a:r>
              <a:rPr i="1" spc="-65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inclusión.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71506" y="1103517"/>
            <a:ext cx="4299585" cy="823594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100" b="1" spc="-135" dirty="0">
                <a:latin typeface="Arial"/>
                <a:cs typeface="Arial"/>
              </a:rPr>
              <a:t>2.-</a:t>
            </a:r>
            <a:r>
              <a:rPr sz="2100" b="1" spc="-95" dirty="0">
                <a:latin typeface="Arial"/>
                <a:cs typeface="Arial"/>
              </a:rPr>
              <a:t> </a:t>
            </a:r>
            <a:r>
              <a:rPr sz="2100" b="1" spc="-195" dirty="0">
                <a:latin typeface="Arial"/>
                <a:cs typeface="Arial"/>
              </a:rPr>
              <a:t>PERSONAS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sz="2100" b="1" spc="-40" dirty="0">
                <a:latin typeface="Arial"/>
                <a:cs typeface="Arial"/>
              </a:rPr>
              <a:t>VINCULADAS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ts val="1700"/>
              </a:lnSpc>
              <a:spcBef>
                <a:spcPts val="150"/>
              </a:spcBef>
            </a:pPr>
            <a:r>
              <a:rPr sz="1450" b="1" i="1" spc="-160" dirty="0">
                <a:latin typeface="Arial"/>
                <a:cs typeface="Arial"/>
              </a:rPr>
              <a:t>¿Quienes</a:t>
            </a:r>
            <a:r>
              <a:rPr sz="1450" b="1" i="1" spc="-5" dirty="0">
                <a:latin typeface="Arial"/>
                <a:cs typeface="Arial"/>
              </a:rPr>
              <a:t> </a:t>
            </a:r>
            <a:r>
              <a:rPr sz="1450" b="1" i="1" spc="-165" dirty="0">
                <a:latin typeface="Arial"/>
                <a:cs typeface="Arial"/>
              </a:rPr>
              <a:t>son</a:t>
            </a:r>
            <a:r>
              <a:rPr sz="1450" b="1" i="1" spc="-50" dirty="0">
                <a:latin typeface="Arial"/>
                <a:cs typeface="Arial"/>
              </a:rPr>
              <a:t> </a:t>
            </a:r>
            <a:r>
              <a:rPr sz="1450" b="1" i="1" spc="-135" dirty="0">
                <a:latin typeface="Arial"/>
                <a:cs typeface="Arial"/>
              </a:rPr>
              <a:t>los</a:t>
            </a:r>
            <a:r>
              <a:rPr sz="1450" b="1" i="1" spc="-10" dirty="0">
                <a:latin typeface="Arial"/>
                <a:cs typeface="Arial"/>
              </a:rPr>
              <a:t> </a:t>
            </a:r>
            <a:r>
              <a:rPr sz="1450" b="1" i="1" spc="-110" dirty="0">
                <a:latin typeface="Arial"/>
                <a:cs typeface="Arial"/>
              </a:rPr>
              <a:t>usuarios/clientes</a:t>
            </a:r>
            <a:r>
              <a:rPr sz="1450" b="1" i="1" spc="-90" dirty="0">
                <a:latin typeface="Arial"/>
                <a:cs typeface="Arial"/>
              </a:rPr>
              <a:t> </a:t>
            </a:r>
            <a:r>
              <a:rPr sz="1450" b="1" i="1" spc="-120" dirty="0">
                <a:latin typeface="Arial"/>
                <a:cs typeface="Arial"/>
              </a:rPr>
              <a:t>en</a:t>
            </a:r>
            <a:r>
              <a:rPr sz="1450" b="1" i="1" spc="-45" dirty="0">
                <a:latin typeface="Arial"/>
                <a:cs typeface="Arial"/>
              </a:rPr>
              <a:t> </a:t>
            </a:r>
            <a:r>
              <a:rPr sz="1450" b="1" i="1" spc="-85" dirty="0">
                <a:latin typeface="Arial"/>
                <a:cs typeface="Arial"/>
              </a:rPr>
              <a:t>torno</a:t>
            </a:r>
            <a:r>
              <a:rPr sz="1450" b="1" i="1" spc="-55" dirty="0">
                <a:latin typeface="Arial"/>
                <a:cs typeface="Arial"/>
              </a:rPr>
              <a:t> </a:t>
            </a:r>
            <a:r>
              <a:rPr sz="1450" b="1" i="1" spc="-90" dirty="0">
                <a:latin typeface="Arial"/>
                <a:cs typeface="Arial"/>
              </a:rPr>
              <a:t>al</a:t>
            </a:r>
            <a:r>
              <a:rPr sz="1450" b="1" i="1" spc="-60" dirty="0">
                <a:latin typeface="Arial"/>
                <a:cs typeface="Arial"/>
              </a:rPr>
              <a:t> </a:t>
            </a:r>
            <a:r>
              <a:rPr sz="1450" b="1" i="1" spc="-80" dirty="0">
                <a:latin typeface="Arial"/>
                <a:cs typeface="Arial"/>
              </a:rPr>
              <a:t>contexto?</a:t>
            </a:r>
            <a:endParaRPr sz="1450">
              <a:latin typeface="Arial"/>
              <a:cs typeface="Arial"/>
            </a:endParaRPr>
          </a:p>
          <a:p>
            <a:pPr marL="12700">
              <a:lnSpc>
                <a:spcPts val="1700"/>
              </a:lnSpc>
            </a:pPr>
            <a:r>
              <a:rPr sz="1450" b="1" i="1" spc="-140" dirty="0">
                <a:latin typeface="Arial"/>
                <a:cs typeface="Arial"/>
              </a:rPr>
              <a:t>Describa</a:t>
            </a:r>
            <a:r>
              <a:rPr sz="1450" b="1" i="1" spc="60" dirty="0">
                <a:latin typeface="Arial"/>
                <a:cs typeface="Arial"/>
              </a:rPr>
              <a:t> </a:t>
            </a:r>
            <a:r>
              <a:rPr sz="1450" b="1" i="1" spc="-100" dirty="0">
                <a:latin typeface="Arial"/>
                <a:cs typeface="Arial"/>
              </a:rPr>
              <a:t>cualitativamente</a:t>
            </a:r>
            <a:r>
              <a:rPr sz="1450" b="1" i="1" spc="-35" dirty="0">
                <a:latin typeface="Arial"/>
                <a:cs typeface="Arial"/>
              </a:rPr>
              <a:t> </a:t>
            </a:r>
            <a:r>
              <a:rPr sz="1450" b="1" i="1" spc="-155" dirty="0">
                <a:latin typeface="Arial"/>
                <a:cs typeface="Arial"/>
              </a:rPr>
              <a:t>y</a:t>
            </a:r>
            <a:r>
              <a:rPr sz="1450" b="1" i="1" spc="-5" dirty="0">
                <a:latin typeface="Arial"/>
                <a:cs typeface="Arial"/>
              </a:rPr>
              <a:t> </a:t>
            </a:r>
            <a:r>
              <a:rPr sz="1450" b="1" i="1" spc="-25" dirty="0">
                <a:latin typeface="Arial"/>
                <a:cs typeface="Arial"/>
              </a:rPr>
              <a:t>cuantitativamente</a:t>
            </a:r>
            <a:endParaRPr sz="1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3328" y="4299853"/>
            <a:ext cx="3774440" cy="6134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100" b="1" spc="-135" dirty="0">
                <a:latin typeface="Arial"/>
                <a:cs typeface="Arial"/>
              </a:rPr>
              <a:t>3.-</a:t>
            </a:r>
            <a:r>
              <a:rPr sz="2100" b="1" spc="-90" dirty="0">
                <a:latin typeface="Arial"/>
                <a:cs typeface="Arial"/>
              </a:rPr>
              <a:t> </a:t>
            </a:r>
            <a:r>
              <a:rPr sz="2100" b="1" spc="-204" dirty="0">
                <a:latin typeface="Arial"/>
                <a:cs typeface="Arial"/>
              </a:rPr>
              <a:t>PROBLEMAS</a:t>
            </a:r>
            <a:r>
              <a:rPr sz="2100" b="1" spc="-75" dirty="0">
                <a:latin typeface="Arial"/>
                <a:cs typeface="Arial"/>
              </a:rPr>
              <a:t> </a:t>
            </a:r>
            <a:r>
              <a:rPr sz="2100" b="1" spc="-114" dirty="0">
                <a:latin typeface="Arial"/>
                <a:cs typeface="Arial"/>
              </a:rPr>
              <a:t>IDENTIFICADOS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450" b="1" i="1" spc="-175" dirty="0">
                <a:latin typeface="Arial"/>
                <a:cs typeface="Arial"/>
              </a:rPr>
              <a:t>¿Cuáles</a:t>
            </a:r>
            <a:r>
              <a:rPr sz="1450" b="1" i="1" spc="-95" dirty="0">
                <a:latin typeface="Arial"/>
                <a:cs typeface="Arial"/>
              </a:rPr>
              <a:t> </a:t>
            </a:r>
            <a:r>
              <a:rPr sz="1450" b="1" i="1" spc="-160" dirty="0">
                <a:latin typeface="Arial"/>
                <a:cs typeface="Arial"/>
              </a:rPr>
              <a:t>son</a:t>
            </a:r>
            <a:r>
              <a:rPr sz="1450" b="1" i="1" spc="-60" dirty="0">
                <a:latin typeface="Arial"/>
                <a:cs typeface="Arial"/>
              </a:rPr>
              <a:t> </a:t>
            </a:r>
            <a:r>
              <a:rPr sz="1450" b="1" i="1" spc="-135" dirty="0">
                <a:latin typeface="Arial"/>
                <a:cs typeface="Arial"/>
              </a:rPr>
              <a:t>los</a:t>
            </a:r>
            <a:r>
              <a:rPr sz="1450" b="1" i="1" spc="-20" dirty="0">
                <a:latin typeface="Arial"/>
                <a:cs typeface="Arial"/>
              </a:rPr>
              <a:t> </a:t>
            </a:r>
            <a:r>
              <a:rPr sz="1450" b="1" i="1" spc="-125" dirty="0">
                <a:latin typeface="Arial"/>
                <a:cs typeface="Arial"/>
              </a:rPr>
              <a:t>problemas</a:t>
            </a:r>
            <a:r>
              <a:rPr sz="1450" b="1" i="1" spc="-20" dirty="0">
                <a:latin typeface="Arial"/>
                <a:cs typeface="Arial"/>
              </a:rPr>
              <a:t> </a:t>
            </a:r>
            <a:r>
              <a:rPr sz="1450" b="1" i="1" spc="-165" dirty="0">
                <a:latin typeface="Arial"/>
                <a:cs typeface="Arial"/>
              </a:rPr>
              <a:t>más</a:t>
            </a:r>
            <a:r>
              <a:rPr sz="1450" b="1" i="1" spc="-20" dirty="0">
                <a:latin typeface="Arial"/>
                <a:cs typeface="Arial"/>
              </a:rPr>
              <a:t> </a:t>
            </a:r>
            <a:r>
              <a:rPr sz="1450" b="1" i="1" spc="-35" dirty="0">
                <a:latin typeface="Arial"/>
                <a:cs typeface="Arial"/>
              </a:rPr>
              <a:t>relevantes?</a:t>
            </a:r>
            <a:endParaRPr sz="14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97372" y="4299853"/>
            <a:ext cx="1531620" cy="61341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100" b="1" spc="-160" dirty="0">
                <a:latin typeface="Arial"/>
                <a:cs typeface="Arial"/>
              </a:rPr>
              <a:t>3.A.-</a:t>
            </a:r>
            <a:r>
              <a:rPr sz="2100" b="1" spc="-70" dirty="0">
                <a:latin typeface="Arial"/>
                <a:cs typeface="Arial"/>
              </a:rPr>
              <a:t> </a:t>
            </a:r>
            <a:r>
              <a:rPr sz="2100" b="1" spc="-10" dirty="0">
                <a:latin typeface="Arial"/>
                <a:cs typeface="Arial"/>
              </a:rPr>
              <a:t>CAUSA</a:t>
            </a:r>
            <a:endParaRPr sz="2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450" b="1" i="1" spc="-180" dirty="0">
                <a:latin typeface="Arial"/>
                <a:cs typeface="Arial"/>
              </a:rPr>
              <a:t>¿Por</a:t>
            </a:r>
            <a:r>
              <a:rPr sz="1450" b="1" i="1" dirty="0">
                <a:latin typeface="Arial"/>
                <a:cs typeface="Arial"/>
              </a:rPr>
              <a:t> </a:t>
            </a:r>
            <a:r>
              <a:rPr sz="1450" b="1" i="1" spc="-140" dirty="0">
                <a:latin typeface="Arial"/>
                <a:cs typeface="Arial"/>
              </a:rPr>
              <a:t>qué</a:t>
            </a:r>
            <a:r>
              <a:rPr sz="1450" b="1" i="1" dirty="0">
                <a:latin typeface="Arial"/>
                <a:cs typeface="Arial"/>
              </a:rPr>
              <a:t> </a:t>
            </a:r>
            <a:r>
              <a:rPr sz="1450" b="1" i="1" spc="-120" dirty="0">
                <a:latin typeface="Arial"/>
                <a:cs typeface="Arial"/>
              </a:rPr>
              <a:t>ocurren</a:t>
            </a:r>
            <a:r>
              <a:rPr sz="1450" b="1" i="1" spc="-65" dirty="0">
                <a:latin typeface="Arial"/>
                <a:cs typeface="Arial"/>
              </a:rPr>
              <a:t> </a:t>
            </a:r>
            <a:r>
              <a:rPr sz="1450" b="1" i="1" spc="-95" dirty="0">
                <a:latin typeface="Arial"/>
                <a:cs typeface="Arial"/>
              </a:rPr>
              <a:t>es</a:t>
            </a:r>
            <a:endParaRPr sz="14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916190" y="4698900"/>
            <a:ext cx="1151890" cy="207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0"/>
              </a:lnSpc>
            </a:pPr>
            <a:r>
              <a:rPr sz="1450" b="1" i="1" spc="-114" dirty="0">
                <a:latin typeface="Arial"/>
                <a:cs typeface="Arial"/>
              </a:rPr>
              <a:t>tos</a:t>
            </a:r>
            <a:r>
              <a:rPr sz="1450" b="1" i="1" spc="-105" dirty="0">
                <a:latin typeface="Arial"/>
                <a:cs typeface="Arial"/>
              </a:rPr>
              <a:t> </a:t>
            </a:r>
            <a:r>
              <a:rPr sz="1450" b="1" i="1" spc="-145" dirty="0">
                <a:latin typeface="Arial"/>
                <a:cs typeface="Arial"/>
              </a:rPr>
              <a:t>problemas?</a:t>
            </a:r>
            <a:endParaRPr sz="1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97372" y="5861396"/>
            <a:ext cx="2458720" cy="61214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50" b="1" spc="-145" dirty="0">
                <a:latin typeface="Arial"/>
                <a:cs typeface="Arial"/>
              </a:rPr>
              <a:t>3.B.-</a:t>
            </a:r>
            <a:r>
              <a:rPr sz="2050" b="1" spc="-65" dirty="0">
                <a:latin typeface="Arial"/>
                <a:cs typeface="Arial"/>
              </a:rPr>
              <a:t> </a:t>
            </a:r>
            <a:r>
              <a:rPr sz="2050" b="1" spc="-10" dirty="0">
                <a:latin typeface="Arial"/>
                <a:cs typeface="Arial"/>
              </a:rPr>
              <a:t>EFECTO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sz="1450" b="1" i="1" spc="-175" dirty="0">
                <a:latin typeface="Arial"/>
                <a:cs typeface="Arial"/>
              </a:rPr>
              <a:t>¿Qué</a:t>
            </a:r>
            <a:r>
              <a:rPr sz="1450" b="1" i="1" spc="10" dirty="0">
                <a:latin typeface="Arial"/>
                <a:cs typeface="Arial"/>
              </a:rPr>
              <a:t> </a:t>
            </a:r>
            <a:r>
              <a:rPr sz="1450" b="1" i="1" spc="-150" dirty="0">
                <a:latin typeface="Arial"/>
                <a:cs typeface="Arial"/>
              </a:rPr>
              <a:t>consecuencias</a:t>
            </a:r>
            <a:r>
              <a:rPr sz="1450" b="1" i="1" spc="-10" dirty="0">
                <a:latin typeface="Arial"/>
                <a:cs typeface="Arial"/>
              </a:rPr>
              <a:t> </a:t>
            </a:r>
            <a:r>
              <a:rPr sz="1450" b="1" i="1" spc="-95" dirty="0">
                <a:latin typeface="Arial"/>
                <a:cs typeface="Arial"/>
              </a:rPr>
              <a:t>tienen</a:t>
            </a:r>
            <a:r>
              <a:rPr sz="1450" b="1" i="1" spc="-50" dirty="0">
                <a:latin typeface="Arial"/>
                <a:cs typeface="Arial"/>
              </a:rPr>
              <a:t> </a:t>
            </a:r>
            <a:r>
              <a:rPr sz="1450" b="1" i="1" spc="-70" dirty="0">
                <a:latin typeface="Arial"/>
                <a:cs typeface="Arial"/>
              </a:rPr>
              <a:t>para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84243" y="6258412"/>
            <a:ext cx="1006475" cy="207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0"/>
              </a:lnSpc>
            </a:pPr>
            <a:r>
              <a:rPr sz="1450" b="1" i="1" spc="-130" dirty="0">
                <a:latin typeface="Arial"/>
                <a:cs typeface="Arial"/>
              </a:rPr>
              <a:t>las</a:t>
            </a:r>
            <a:r>
              <a:rPr sz="1450" b="1" i="1" spc="-35" dirty="0">
                <a:latin typeface="Arial"/>
                <a:cs typeface="Arial"/>
              </a:rPr>
              <a:t> </a:t>
            </a:r>
            <a:r>
              <a:rPr sz="1450" b="1" i="1" spc="-175" dirty="0">
                <a:latin typeface="Arial"/>
                <a:cs typeface="Arial"/>
              </a:rPr>
              <a:t>personas?</a:t>
            </a:r>
            <a:endParaRPr sz="14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71506" y="5889625"/>
            <a:ext cx="2880360" cy="9036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050" b="1" spc="-65" dirty="0">
                <a:latin typeface="Arial"/>
                <a:cs typeface="Arial"/>
              </a:rPr>
              <a:t>4.-</a:t>
            </a:r>
            <a:r>
              <a:rPr sz="2050" b="1" spc="-85" dirty="0">
                <a:latin typeface="Arial"/>
                <a:cs typeface="Arial"/>
              </a:rPr>
              <a:t> INSTITUCIONES</a:t>
            </a:r>
            <a:r>
              <a:rPr sz="2050" b="1" spc="-65" dirty="0">
                <a:latin typeface="Arial"/>
                <a:cs typeface="Arial"/>
              </a:rPr>
              <a:t> </a:t>
            </a:r>
            <a:r>
              <a:rPr sz="2050" b="1" spc="330" dirty="0">
                <a:latin typeface="Arial"/>
                <a:cs typeface="Arial"/>
              </a:rPr>
              <a:t>/</a:t>
            </a:r>
            <a:r>
              <a:rPr sz="2050" b="1" spc="-105" dirty="0">
                <a:latin typeface="Arial"/>
                <a:cs typeface="Arial"/>
              </a:rPr>
              <a:t> </a:t>
            </a:r>
            <a:r>
              <a:rPr sz="2050" b="1" spc="-25" dirty="0">
                <a:latin typeface="Arial"/>
                <a:cs typeface="Arial"/>
              </a:rPr>
              <a:t>EM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2100" b="1" spc="-204" dirty="0">
                <a:latin typeface="Arial"/>
                <a:cs typeface="Arial"/>
              </a:rPr>
              <a:t>AGENTES</a:t>
            </a:r>
            <a:r>
              <a:rPr sz="2100" b="1" spc="-55" dirty="0">
                <a:latin typeface="Arial"/>
                <a:cs typeface="Arial"/>
              </a:rPr>
              <a:t> </a:t>
            </a:r>
            <a:r>
              <a:rPr sz="2100" b="1" spc="-170" dirty="0">
                <a:latin typeface="Arial"/>
                <a:cs typeface="Arial"/>
              </a:rPr>
              <a:t>EXTERNOS</a:t>
            </a:r>
            <a:r>
              <a:rPr sz="2100" b="1" spc="-50" dirty="0">
                <a:latin typeface="Arial"/>
                <a:cs typeface="Arial"/>
              </a:rPr>
              <a:t> </a:t>
            </a:r>
            <a:r>
              <a:rPr sz="2100" b="1" spc="-25" dirty="0">
                <a:latin typeface="Arial"/>
                <a:cs typeface="Arial"/>
              </a:rPr>
              <a:t>VI</a:t>
            </a:r>
            <a:endParaRPr sz="2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450" b="1" i="1" spc="-210" dirty="0">
                <a:latin typeface="Arial"/>
                <a:cs typeface="Arial"/>
              </a:rPr>
              <a:t>¿Con</a:t>
            </a:r>
            <a:r>
              <a:rPr sz="1450" b="1" i="1" spc="-75" dirty="0">
                <a:latin typeface="Arial"/>
                <a:cs typeface="Arial"/>
              </a:rPr>
              <a:t> </a:t>
            </a:r>
            <a:r>
              <a:rPr sz="1450" b="1" i="1" spc="-130" dirty="0">
                <a:latin typeface="Arial"/>
                <a:cs typeface="Arial"/>
              </a:rPr>
              <a:t>cuáles</a:t>
            </a:r>
            <a:r>
              <a:rPr sz="1450" b="1" i="1" spc="-70" dirty="0">
                <a:latin typeface="Arial"/>
                <a:cs typeface="Arial"/>
              </a:rPr>
              <a:t> </a:t>
            </a:r>
            <a:r>
              <a:rPr sz="1450" b="1" i="1" spc="-120" dirty="0">
                <a:latin typeface="Arial"/>
                <a:cs typeface="Arial"/>
              </a:rPr>
              <a:t>stakeholders</a:t>
            </a:r>
            <a:r>
              <a:rPr sz="1450" b="1" i="1" spc="-5" dirty="0">
                <a:latin typeface="Arial"/>
                <a:cs typeface="Arial"/>
              </a:rPr>
              <a:t> </a:t>
            </a:r>
            <a:r>
              <a:rPr sz="1450" b="1" i="1" spc="-185" dirty="0">
                <a:latin typeface="Arial"/>
                <a:cs typeface="Arial"/>
              </a:rPr>
              <a:t>se</a:t>
            </a:r>
            <a:r>
              <a:rPr sz="1450" b="1" i="1" spc="-5" dirty="0">
                <a:latin typeface="Arial"/>
                <a:cs typeface="Arial"/>
              </a:rPr>
              <a:t> </a:t>
            </a:r>
            <a:r>
              <a:rPr sz="1450" b="1" i="1" spc="-90" dirty="0">
                <a:latin typeface="Arial"/>
                <a:cs typeface="Arial"/>
              </a:rPr>
              <a:t>relaciona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089410" y="5928842"/>
            <a:ext cx="1353820" cy="8572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2290"/>
              </a:lnSpc>
            </a:pPr>
            <a:r>
              <a:rPr sz="2050" b="1" spc="-50" dirty="0">
                <a:latin typeface="Arial"/>
                <a:cs typeface="Arial"/>
              </a:rPr>
              <a:t>PRESAS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2100" b="1" spc="-165" dirty="0">
                <a:latin typeface="Arial"/>
                <a:cs typeface="Arial"/>
              </a:rPr>
              <a:t>NCULADOS</a:t>
            </a:r>
            <a:endParaRPr sz="21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  <a:spcBef>
                <a:spcPts val="145"/>
              </a:spcBef>
            </a:pPr>
            <a:r>
              <a:rPr sz="1450" b="1" i="1" spc="-140" dirty="0">
                <a:latin typeface="Arial"/>
                <a:cs typeface="Arial"/>
              </a:rPr>
              <a:t>n</a:t>
            </a:r>
            <a:r>
              <a:rPr sz="1450" b="1" i="1" spc="-65" dirty="0">
                <a:latin typeface="Arial"/>
                <a:cs typeface="Arial"/>
              </a:rPr>
              <a:t> </a:t>
            </a:r>
            <a:r>
              <a:rPr sz="1450" b="1" i="1" spc="-160" dirty="0">
                <a:latin typeface="Arial"/>
                <a:cs typeface="Arial"/>
              </a:rPr>
              <a:t>las</a:t>
            </a:r>
            <a:r>
              <a:rPr sz="1450" b="1" i="1" spc="-30" dirty="0">
                <a:latin typeface="Arial"/>
                <a:cs typeface="Arial"/>
              </a:rPr>
              <a:t> </a:t>
            </a:r>
            <a:r>
              <a:rPr sz="1450" b="1" i="1" spc="-55" dirty="0">
                <a:latin typeface="Arial"/>
                <a:cs typeface="Arial"/>
              </a:rPr>
              <a:t>personas?</a:t>
            </a:r>
            <a:endParaRPr sz="14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66257" y="7363905"/>
            <a:ext cx="3720465" cy="61214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2050" b="1" spc="-95" dirty="0">
                <a:latin typeface="Arial"/>
                <a:cs typeface="Arial"/>
              </a:rPr>
              <a:t>5.-</a:t>
            </a:r>
            <a:r>
              <a:rPr sz="2050" b="1" spc="-75" dirty="0">
                <a:latin typeface="Arial"/>
                <a:cs typeface="Arial"/>
              </a:rPr>
              <a:t> </a:t>
            </a:r>
            <a:r>
              <a:rPr sz="2050" b="1" spc="-65" dirty="0">
                <a:latin typeface="Arial"/>
                <a:cs typeface="Arial"/>
              </a:rPr>
              <a:t>NECESIDAD/OPORTUNIDAD</a:t>
            </a:r>
            <a:endParaRPr sz="2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1450" b="1" i="1" spc="-175" dirty="0">
                <a:latin typeface="Arial"/>
                <a:cs typeface="Arial"/>
              </a:rPr>
              <a:t>¿Cuáles</a:t>
            </a:r>
            <a:r>
              <a:rPr sz="1450" b="1" i="1" spc="-100" dirty="0">
                <a:latin typeface="Arial"/>
                <a:cs typeface="Arial"/>
              </a:rPr>
              <a:t> </a:t>
            </a:r>
            <a:r>
              <a:rPr sz="1450" b="1" i="1" spc="-165" dirty="0">
                <a:latin typeface="Arial"/>
                <a:cs typeface="Arial"/>
              </a:rPr>
              <a:t>son</a:t>
            </a:r>
            <a:r>
              <a:rPr sz="1450" b="1" i="1" spc="-60" dirty="0">
                <a:latin typeface="Arial"/>
                <a:cs typeface="Arial"/>
              </a:rPr>
              <a:t> </a:t>
            </a:r>
            <a:r>
              <a:rPr sz="1450" b="1" i="1" spc="-135" dirty="0">
                <a:latin typeface="Arial"/>
                <a:cs typeface="Arial"/>
              </a:rPr>
              <a:t>los</a:t>
            </a:r>
            <a:r>
              <a:rPr sz="1450" b="1" i="1" spc="-20" dirty="0">
                <a:latin typeface="Arial"/>
                <a:cs typeface="Arial"/>
              </a:rPr>
              <a:t> </a:t>
            </a:r>
            <a:r>
              <a:rPr sz="1450" b="1" i="1" spc="-130" dirty="0">
                <a:latin typeface="Arial"/>
                <a:cs typeface="Arial"/>
              </a:rPr>
              <a:t>problemas</a:t>
            </a:r>
            <a:r>
              <a:rPr sz="1450" b="1" i="1" spc="-15" dirty="0">
                <a:latin typeface="Arial"/>
                <a:cs typeface="Arial"/>
              </a:rPr>
              <a:t> </a:t>
            </a:r>
            <a:r>
              <a:rPr sz="1450" b="1" i="1" spc="-165" dirty="0">
                <a:latin typeface="Arial"/>
                <a:cs typeface="Arial"/>
              </a:rPr>
              <a:t>más</a:t>
            </a:r>
            <a:r>
              <a:rPr sz="1450" b="1" i="1" spc="-20" dirty="0">
                <a:latin typeface="Arial"/>
                <a:cs typeface="Arial"/>
              </a:rPr>
              <a:t> </a:t>
            </a:r>
            <a:r>
              <a:rPr sz="1450" b="1" i="1" spc="-35" dirty="0">
                <a:latin typeface="Arial"/>
                <a:cs typeface="Arial"/>
              </a:rPr>
              <a:t>relevantes?</a:t>
            </a:r>
            <a:endParaRPr sz="1450">
              <a:latin typeface="Arial"/>
              <a:cs typeface="Arial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420623" y="219290"/>
            <a:ext cx="14612619" cy="731520"/>
          </a:xfrm>
          <a:prstGeom prst="rect">
            <a:avLst/>
          </a:prstGeom>
          <a:solidFill>
            <a:srgbClr val="5F89E4"/>
          </a:solidFill>
          <a:ln w="19051">
            <a:solidFill>
              <a:srgbClr val="000000"/>
            </a:solidFill>
          </a:ln>
        </p:spPr>
        <p:txBody>
          <a:bodyPr vert="horz" wrap="square" lIns="0" tIns="29273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2305"/>
              </a:spcBef>
            </a:pPr>
            <a:r>
              <a:rPr sz="2350" spc="125" dirty="0">
                <a:solidFill>
                  <a:srgbClr val="FFFFFF"/>
                </a:solidFill>
                <a:latin typeface="Trebuchet MS"/>
                <a:cs typeface="Trebuchet MS"/>
              </a:rPr>
              <a:t>ACTIVIDAD</a:t>
            </a:r>
            <a:r>
              <a:rPr sz="235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35" dirty="0">
                <a:solidFill>
                  <a:srgbClr val="FFFFFF"/>
                </a:solidFill>
                <a:latin typeface="Trebuchet MS"/>
                <a:cs typeface="Trebuchet MS"/>
              </a:rPr>
              <a:t>GRUPAL</a:t>
            </a:r>
            <a:r>
              <a:rPr sz="235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10" dirty="0">
                <a:solidFill>
                  <a:srgbClr val="FFFFFF"/>
                </a:solidFill>
                <a:latin typeface="Trebuchet MS"/>
                <a:cs typeface="Trebuchet MS"/>
              </a:rPr>
              <a:t>Nº3</a:t>
            </a:r>
            <a:r>
              <a:rPr sz="235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45" dirty="0">
                <a:solidFill>
                  <a:srgbClr val="FFFFFF"/>
                </a:solidFill>
                <a:latin typeface="Trebuchet MS"/>
                <a:cs typeface="Trebuchet MS"/>
              </a:rPr>
              <a:t>INVESTIGACIÓN</a:t>
            </a:r>
            <a:r>
              <a:rPr sz="235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b="0" spc="229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350" b="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50" dirty="0">
                <a:solidFill>
                  <a:srgbClr val="FFFFFF"/>
                </a:solidFill>
                <a:latin typeface="Trebuchet MS"/>
                <a:cs typeface="Trebuchet MS"/>
              </a:rPr>
              <a:t>TEMAS</a:t>
            </a:r>
            <a:endParaRPr sz="235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148881" y="5739447"/>
            <a:ext cx="2195195" cy="1435735"/>
            <a:chOff x="13148881" y="5739447"/>
            <a:chExt cx="2195195" cy="1435735"/>
          </a:xfrm>
        </p:grpSpPr>
        <p:sp>
          <p:nvSpPr>
            <p:cNvPr id="22" name="object 22"/>
            <p:cNvSpPr/>
            <p:nvPr/>
          </p:nvSpPr>
          <p:spPr>
            <a:xfrm>
              <a:off x="13153643" y="5744209"/>
              <a:ext cx="2185670" cy="1426210"/>
            </a:xfrm>
            <a:custGeom>
              <a:avLst/>
              <a:gdLst/>
              <a:ahLst/>
              <a:cxnLst/>
              <a:rect l="l" t="t" r="r" b="b"/>
              <a:pathLst>
                <a:path w="2185669" h="1426209">
                  <a:moveTo>
                    <a:pt x="2185415" y="0"/>
                  </a:moveTo>
                  <a:lnTo>
                    <a:pt x="0" y="0"/>
                  </a:lnTo>
                  <a:lnTo>
                    <a:pt x="0" y="1425828"/>
                  </a:lnTo>
                  <a:lnTo>
                    <a:pt x="2185415" y="1425828"/>
                  </a:lnTo>
                  <a:lnTo>
                    <a:pt x="2185415" y="0"/>
                  </a:lnTo>
                  <a:close/>
                </a:path>
              </a:pathLst>
            </a:custGeom>
            <a:solidFill>
              <a:srgbClr val="F4B9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153643" y="5744209"/>
              <a:ext cx="2185670" cy="1426210"/>
            </a:xfrm>
            <a:custGeom>
              <a:avLst/>
              <a:gdLst/>
              <a:ahLst/>
              <a:cxnLst/>
              <a:rect l="l" t="t" r="r" b="b"/>
              <a:pathLst>
                <a:path w="2185669" h="1426209">
                  <a:moveTo>
                    <a:pt x="0" y="1425828"/>
                  </a:moveTo>
                  <a:lnTo>
                    <a:pt x="2185415" y="1425828"/>
                  </a:lnTo>
                  <a:lnTo>
                    <a:pt x="2185415" y="0"/>
                  </a:lnTo>
                  <a:lnTo>
                    <a:pt x="0" y="0"/>
                  </a:lnTo>
                  <a:lnTo>
                    <a:pt x="0" y="14258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3408533" y="6039103"/>
            <a:ext cx="1690370" cy="97308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-3810" algn="ctr">
              <a:lnSpc>
                <a:spcPct val="102600"/>
              </a:lnSpc>
              <a:spcBef>
                <a:spcPts val="85"/>
              </a:spcBef>
            </a:pPr>
            <a:r>
              <a:rPr sz="1550" dirty="0">
                <a:latin typeface="Tahoma"/>
                <a:cs typeface="Tahoma"/>
              </a:rPr>
              <a:t>Colegio</a:t>
            </a:r>
            <a:r>
              <a:rPr sz="1550" spc="-110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sin</a:t>
            </a:r>
            <a:r>
              <a:rPr sz="1550" spc="-105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pie</a:t>
            </a:r>
            <a:r>
              <a:rPr sz="1550" spc="-20" dirty="0">
                <a:latin typeface="Tahoma"/>
                <a:cs typeface="Tahoma"/>
              </a:rPr>
              <a:t>,</a:t>
            </a:r>
            <a:r>
              <a:rPr lang="es-MX" sz="1550" spc="-20" dirty="0">
                <a:latin typeface="Tahoma"/>
                <a:cs typeface="Tahoma"/>
              </a:rPr>
              <a:t> </a:t>
            </a:r>
            <a:r>
              <a:rPr sz="1550" spc="-20" dirty="0" err="1">
                <a:latin typeface="Tahoma"/>
                <a:cs typeface="Tahoma"/>
              </a:rPr>
              <a:t>los</a:t>
            </a:r>
            <a:r>
              <a:rPr lang="es-MX" sz="1550" spc="-20" dirty="0">
                <a:latin typeface="Tahoma"/>
                <a:cs typeface="Tahoma"/>
              </a:rPr>
              <a:t> </a:t>
            </a:r>
            <a:r>
              <a:rPr sz="1550" spc="-10" dirty="0" err="1">
                <a:latin typeface="Tahoma"/>
                <a:cs typeface="Tahoma"/>
              </a:rPr>
              <a:t>profesores</a:t>
            </a:r>
            <a:r>
              <a:rPr lang="es-CL" sz="1550" spc="-195" dirty="0">
                <a:latin typeface="Tahoma"/>
                <a:cs typeface="Tahoma"/>
              </a:rPr>
              <a:t>, </a:t>
            </a:r>
            <a:r>
              <a:rPr lang="es-CL" sz="1550" spc="-114" dirty="0">
                <a:latin typeface="Tahoma"/>
                <a:cs typeface="Tahoma"/>
              </a:rPr>
              <a:t> l</a:t>
            </a:r>
            <a:r>
              <a:rPr sz="1550" spc="-25" dirty="0" err="1">
                <a:latin typeface="Tahoma"/>
                <a:cs typeface="Tahoma"/>
              </a:rPr>
              <a:t>os</a:t>
            </a:r>
            <a:r>
              <a:rPr lang="es-MX" sz="1550" spc="-25" dirty="0">
                <a:latin typeface="Tahoma"/>
                <a:cs typeface="Tahoma"/>
              </a:rPr>
              <a:t> </a:t>
            </a:r>
            <a:r>
              <a:rPr sz="1550" dirty="0" err="1">
                <a:latin typeface="Tahoma"/>
                <a:cs typeface="Tahoma"/>
              </a:rPr>
              <a:t>alumnos</a:t>
            </a:r>
            <a:r>
              <a:rPr sz="1550" spc="-135" dirty="0">
                <a:latin typeface="Tahoma"/>
                <a:cs typeface="Tahoma"/>
              </a:rPr>
              <a:t> </a:t>
            </a:r>
            <a:r>
              <a:rPr sz="1550" spc="-195" dirty="0">
                <a:latin typeface="Tahoma"/>
                <a:cs typeface="Tahoma"/>
              </a:rPr>
              <a:t>,</a:t>
            </a:r>
            <a:r>
              <a:rPr sz="1550" spc="-45" dirty="0">
                <a:latin typeface="Tahoma"/>
                <a:cs typeface="Tahoma"/>
              </a:rPr>
              <a:t> </a:t>
            </a:r>
            <a:r>
              <a:rPr lang="es-MX" sz="1550" spc="-45" dirty="0">
                <a:latin typeface="Tahoma"/>
                <a:cs typeface="Tahoma"/>
              </a:rPr>
              <a:t> </a:t>
            </a:r>
            <a:r>
              <a:rPr sz="1550" spc="-10" dirty="0" err="1">
                <a:latin typeface="Tahoma"/>
                <a:cs typeface="Tahoma"/>
              </a:rPr>
              <a:t>auxiliares</a:t>
            </a:r>
            <a:endParaRPr sz="155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85516" y="5031358"/>
            <a:ext cx="2176780" cy="1295226"/>
          </a:xfrm>
          <a:prstGeom prst="rect">
            <a:avLst/>
          </a:prstGeom>
          <a:solidFill>
            <a:srgbClr val="8BE7D1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50" spc="-20" dirty="0">
                <a:latin typeface="Tahoma"/>
                <a:cs typeface="Tahoma"/>
              </a:rPr>
              <a:t>PIE</a:t>
            </a:r>
            <a:r>
              <a:rPr lang="es-MX" sz="1550" spc="-20" dirty="0">
                <a:latin typeface="Tahoma"/>
                <a:cs typeface="Tahoma"/>
              </a:rPr>
              <a:t>    </a:t>
            </a:r>
          </a:p>
          <a:p>
            <a:pPr algn="ctr">
              <a:lnSpc>
                <a:spcPct val="100000"/>
              </a:lnSpc>
            </a:pPr>
            <a:endParaRPr lang="es-MX" sz="1550" spc="-2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endParaRPr lang="es-MX" sz="1550" spc="-2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98029" y="5016396"/>
            <a:ext cx="2185670" cy="1015662"/>
          </a:xfrm>
          <a:prstGeom prst="rect">
            <a:avLst/>
          </a:prstGeom>
          <a:solidFill>
            <a:srgbClr val="8BE7D1"/>
          </a:solidFill>
          <a:ln w="9525">
            <a:solidFill>
              <a:srgbClr val="000000"/>
            </a:solidFill>
          </a:ln>
        </p:spPr>
        <p:txBody>
          <a:bodyPr vert="horz" wrap="square" lIns="0" tIns="20827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39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R="6985" algn="just">
              <a:lnSpc>
                <a:spcPct val="100000"/>
              </a:lnSpc>
            </a:pPr>
            <a:r>
              <a:rPr spc="-130" dirty="0">
                <a:latin typeface="Tahoma"/>
                <a:cs typeface="Tahoma"/>
              </a:rPr>
              <a:t>%</a:t>
            </a:r>
            <a:r>
              <a:rPr spc="-6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niños</a:t>
            </a:r>
            <a:r>
              <a:rPr spc="-114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con</a:t>
            </a:r>
            <a:r>
              <a:rPr spc="-95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TEA</a:t>
            </a:r>
            <a:endParaRPr dirty="0">
              <a:latin typeface="Tahoma"/>
              <a:cs typeface="Tahoma"/>
            </a:endParaRPr>
          </a:p>
          <a:p>
            <a:pPr marR="9525" algn="just">
              <a:lnSpc>
                <a:spcPct val="100000"/>
              </a:lnSpc>
              <a:spcBef>
                <a:spcPts val="85"/>
              </a:spcBef>
            </a:pPr>
            <a:r>
              <a:rPr spc="-10" dirty="0">
                <a:latin typeface="Tahoma"/>
                <a:cs typeface="Tahoma"/>
              </a:rPr>
              <a:t>Falta</a:t>
            </a:r>
            <a:r>
              <a:rPr spc="-10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de</a:t>
            </a:r>
            <a:r>
              <a:rPr spc="-114" dirty="0">
                <a:latin typeface="Tahoma"/>
                <a:cs typeface="Tahoma"/>
              </a:rPr>
              <a:t> </a:t>
            </a:r>
            <a:r>
              <a:rPr spc="-20" dirty="0">
                <a:latin typeface="Tahoma"/>
                <a:cs typeface="Tahoma"/>
              </a:rPr>
              <a:t>ayuda</a:t>
            </a:r>
            <a:r>
              <a:rPr spc="-95" dirty="0">
                <a:latin typeface="Tahoma"/>
                <a:cs typeface="Tahoma"/>
              </a:rPr>
              <a:t> </a:t>
            </a:r>
            <a:r>
              <a:rPr spc="-20" dirty="0">
                <a:latin typeface="Tahoma"/>
                <a:cs typeface="Tahoma"/>
              </a:rPr>
              <a:t>apoyo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977371" y="7910321"/>
            <a:ext cx="2176780" cy="1426210"/>
          </a:xfrm>
          <a:prstGeom prst="rect">
            <a:avLst/>
          </a:prstGeom>
          <a:solidFill>
            <a:srgbClr val="F790B0"/>
          </a:solidFill>
          <a:ln w="9525">
            <a:solidFill>
              <a:srgbClr val="000000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30175" marR="114935" indent="-3175" algn="ctr">
              <a:lnSpc>
                <a:spcPct val="103600"/>
              </a:lnSpc>
              <a:spcBef>
                <a:spcPts val="495"/>
              </a:spcBef>
            </a:pPr>
            <a:r>
              <a:rPr sz="1550" spc="-30" dirty="0">
                <a:latin typeface="Tahoma"/>
                <a:cs typeface="Tahoma"/>
              </a:rPr>
              <a:t>Crear</a:t>
            </a:r>
            <a:r>
              <a:rPr sz="1550" spc="-75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una</a:t>
            </a:r>
            <a:r>
              <a:rPr sz="1550" spc="-110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aplicación diseñada </a:t>
            </a:r>
            <a:r>
              <a:rPr sz="1550" dirty="0">
                <a:latin typeface="Tahoma"/>
                <a:cs typeface="Tahoma"/>
              </a:rPr>
              <a:t>específicamente</a:t>
            </a:r>
            <a:r>
              <a:rPr sz="1550" spc="-105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para </a:t>
            </a:r>
            <a:r>
              <a:rPr sz="1550" dirty="0">
                <a:latin typeface="Tahoma"/>
                <a:cs typeface="Tahoma"/>
              </a:rPr>
              <a:t>momentos</a:t>
            </a:r>
            <a:r>
              <a:rPr sz="1550" spc="-10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de</a:t>
            </a:r>
            <a:r>
              <a:rPr sz="1550" spc="-5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crisis </a:t>
            </a:r>
            <a:r>
              <a:rPr sz="1550" spc="-25" dirty="0">
                <a:latin typeface="Tahoma"/>
                <a:cs typeface="Tahoma"/>
              </a:rPr>
              <a:t>en </a:t>
            </a:r>
            <a:r>
              <a:rPr sz="1550" spc="-10" dirty="0">
                <a:latin typeface="Tahoma"/>
                <a:cs typeface="Tahoma"/>
              </a:rPr>
              <a:t>niños</a:t>
            </a:r>
            <a:r>
              <a:rPr sz="1550" spc="-8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con</a:t>
            </a:r>
            <a:r>
              <a:rPr sz="1550" spc="-50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TEA</a:t>
            </a:r>
            <a:endParaRPr sz="1550" dirty="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632435" y="2143251"/>
            <a:ext cx="2185670" cy="1426210"/>
          </a:xfrm>
          <a:prstGeom prst="rect">
            <a:avLst/>
          </a:prstGeom>
          <a:solidFill>
            <a:srgbClr val="EBF06E"/>
          </a:solidFill>
          <a:ln w="9525">
            <a:solidFill>
              <a:srgbClr val="000000"/>
            </a:solidFill>
          </a:ln>
        </p:spPr>
        <p:txBody>
          <a:bodyPr vert="horz" wrap="square" lIns="0" tIns="206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25"/>
              </a:spcBef>
            </a:pPr>
            <a:endParaRPr sz="1550">
              <a:latin typeface="Times New Roman"/>
              <a:cs typeface="Times New Roman"/>
            </a:endParaRPr>
          </a:p>
          <a:p>
            <a:pPr marL="4445" algn="ctr">
              <a:lnSpc>
                <a:spcPct val="100000"/>
              </a:lnSpc>
              <a:spcBef>
                <a:spcPts val="5"/>
              </a:spcBef>
            </a:pPr>
            <a:r>
              <a:rPr sz="1550" dirty="0">
                <a:latin typeface="Tahoma"/>
                <a:cs typeface="Tahoma"/>
              </a:rPr>
              <a:t>Los</a:t>
            </a:r>
            <a:r>
              <a:rPr sz="1550" spc="-80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niños</a:t>
            </a:r>
            <a:r>
              <a:rPr sz="1550" spc="-8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con</a:t>
            </a:r>
            <a:r>
              <a:rPr sz="1550" spc="-55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tea</a:t>
            </a:r>
            <a:endParaRPr sz="1550">
              <a:latin typeface="Tahoma"/>
              <a:cs typeface="Tahoma"/>
            </a:endParaRPr>
          </a:p>
          <a:p>
            <a:pPr marL="7620" algn="ctr">
              <a:lnSpc>
                <a:spcPct val="100000"/>
              </a:lnSpc>
              <a:spcBef>
                <a:spcPts val="85"/>
              </a:spcBef>
            </a:pPr>
            <a:r>
              <a:rPr sz="1550" spc="-10" dirty="0">
                <a:latin typeface="Tahoma"/>
                <a:cs typeface="Tahoma"/>
              </a:rPr>
              <a:t>Padres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854505" y="5876607"/>
            <a:ext cx="2186305" cy="1444625"/>
            <a:chOff x="7854505" y="5876607"/>
            <a:chExt cx="2186305" cy="1444625"/>
          </a:xfrm>
        </p:grpSpPr>
        <p:sp>
          <p:nvSpPr>
            <p:cNvPr id="30" name="object 30"/>
            <p:cNvSpPr/>
            <p:nvPr/>
          </p:nvSpPr>
          <p:spPr>
            <a:xfrm>
              <a:off x="7859268" y="5881370"/>
              <a:ext cx="2176780" cy="1435100"/>
            </a:xfrm>
            <a:custGeom>
              <a:avLst/>
              <a:gdLst/>
              <a:ahLst/>
              <a:cxnLst/>
              <a:rect l="l" t="t" r="r" b="b"/>
              <a:pathLst>
                <a:path w="2176779" h="1435100">
                  <a:moveTo>
                    <a:pt x="2176272" y="0"/>
                  </a:moveTo>
                  <a:lnTo>
                    <a:pt x="0" y="0"/>
                  </a:lnTo>
                  <a:lnTo>
                    <a:pt x="0" y="1434972"/>
                  </a:lnTo>
                  <a:lnTo>
                    <a:pt x="2176272" y="1434972"/>
                  </a:lnTo>
                  <a:lnTo>
                    <a:pt x="2176272" y="0"/>
                  </a:lnTo>
                  <a:close/>
                </a:path>
              </a:pathLst>
            </a:custGeom>
            <a:solidFill>
              <a:srgbClr val="C0AD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859268" y="5881370"/>
              <a:ext cx="2176780" cy="1435100"/>
            </a:xfrm>
            <a:custGeom>
              <a:avLst/>
              <a:gdLst/>
              <a:ahLst/>
              <a:cxnLst/>
              <a:rect l="l" t="t" r="r" b="b"/>
              <a:pathLst>
                <a:path w="2176779" h="1435100">
                  <a:moveTo>
                    <a:pt x="0" y="1434972"/>
                  </a:moveTo>
                  <a:lnTo>
                    <a:pt x="2176272" y="1434972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143497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030209" y="6062345"/>
            <a:ext cx="1835785" cy="99885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algn="ctr">
              <a:lnSpc>
                <a:spcPct val="103299"/>
              </a:lnSpc>
              <a:spcBef>
                <a:spcPts val="70"/>
              </a:spcBef>
            </a:pPr>
            <a:r>
              <a:rPr sz="1550" spc="-20" dirty="0">
                <a:latin typeface="Tahoma"/>
                <a:cs typeface="Tahoma"/>
              </a:rPr>
              <a:t>Mejorar</a:t>
            </a:r>
            <a:r>
              <a:rPr sz="1550" spc="-8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la</a:t>
            </a:r>
            <a:r>
              <a:rPr sz="1550" spc="245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calidad</a:t>
            </a:r>
            <a:r>
              <a:rPr sz="1550" spc="-125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de </a:t>
            </a:r>
            <a:r>
              <a:rPr sz="1550" spc="-10" dirty="0">
                <a:latin typeface="Tahoma"/>
                <a:cs typeface="Tahoma"/>
              </a:rPr>
              <a:t>vida</a:t>
            </a:r>
            <a:r>
              <a:rPr sz="1550" spc="-114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de</a:t>
            </a:r>
            <a:r>
              <a:rPr sz="1550" spc="-125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los </a:t>
            </a:r>
            <a:r>
              <a:rPr sz="1550" dirty="0">
                <a:latin typeface="Tahoma"/>
                <a:cs typeface="Tahoma"/>
              </a:rPr>
              <a:t>estudiantes</a:t>
            </a:r>
            <a:r>
              <a:rPr sz="1550" spc="-95" dirty="0">
                <a:latin typeface="Tahoma"/>
                <a:cs typeface="Tahoma"/>
              </a:rPr>
              <a:t> </a:t>
            </a:r>
            <a:r>
              <a:rPr sz="1550" spc="-50" dirty="0">
                <a:latin typeface="Tahoma"/>
                <a:cs typeface="Tahoma"/>
              </a:rPr>
              <a:t>y </a:t>
            </a:r>
            <a:r>
              <a:rPr sz="1550" spc="-10" dirty="0">
                <a:latin typeface="Tahoma"/>
                <a:cs typeface="Tahoma"/>
              </a:rPr>
              <a:t>apoderados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43329" y="4299501"/>
            <a:ext cx="2195195" cy="1444625"/>
            <a:chOff x="6921817" y="4359338"/>
            <a:chExt cx="2195195" cy="1444625"/>
          </a:xfrm>
        </p:grpSpPr>
        <p:sp>
          <p:nvSpPr>
            <p:cNvPr id="34" name="object 34"/>
            <p:cNvSpPr/>
            <p:nvPr/>
          </p:nvSpPr>
          <p:spPr>
            <a:xfrm>
              <a:off x="6926579" y="4364101"/>
              <a:ext cx="2185670" cy="1435100"/>
            </a:xfrm>
            <a:custGeom>
              <a:avLst/>
              <a:gdLst/>
              <a:ahLst/>
              <a:cxnLst/>
              <a:rect l="l" t="t" r="r" b="b"/>
              <a:pathLst>
                <a:path w="2185670" h="1435100">
                  <a:moveTo>
                    <a:pt x="2185416" y="0"/>
                  </a:moveTo>
                  <a:lnTo>
                    <a:pt x="0" y="0"/>
                  </a:lnTo>
                  <a:lnTo>
                    <a:pt x="0" y="1434973"/>
                  </a:lnTo>
                  <a:lnTo>
                    <a:pt x="2185416" y="1434973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F79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926579" y="4364101"/>
              <a:ext cx="2185670" cy="1435100"/>
            </a:xfrm>
            <a:custGeom>
              <a:avLst/>
              <a:gdLst/>
              <a:ahLst/>
              <a:cxnLst/>
              <a:rect l="l" t="t" r="r" b="b"/>
              <a:pathLst>
                <a:path w="2185670" h="1435100">
                  <a:moveTo>
                    <a:pt x="0" y="1434973"/>
                  </a:moveTo>
                  <a:lnTo>
                    <a:pt x="2185416" y="1434973"/>
                  </a:lnTo>
                  <a:lnTo>
                    <a:pt x="2185416" y="0"/>
                  </a:lnTo>
                  <a:lnTo>
                    <a:pt x="0" y="0"/>
                  </a:lnTo>
                  <a:lnTo>
                    <a:pt x="0" y="14349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054342" y="4422394"/>
            <a:ext cx="1929764" cy="99885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065" marR="5080" indent="-1270" algn="ctr">
              <a:lnSpc>
                <a:spcPct val="103299"/>
              </a:lnSpc>
              <a:spcBef>
                <a:spcPts val="70"/>
              </a:spcBef>
            </a:pPr>
            <a:r>
              <a:rPr sz="1550" dirty="0">
                <a:latin typeface="Tahoma"/>
                <a:cs typeface="Tahoma"/>
              </a:rPr>
              <a:t>Que</a:t>
            </a:r>
            <a:r>
              <a:rPr sz="1550" spc="-7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el</a:t>
            </a:r>
            <a:r>
              <a:rPr sz="1550" spc="-75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ministerio</a:t>
            </a:r>
            <a:r>
              <a:rPr sz="1550" spc="-60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no </a:t>
            </a:r>
            <a:r>
              <a:rPr sz="1550" dirty="0">
                <a:latin typeface="Tahoma"/>
                <a:cs typeface="Tahoma"/>
              </a:rPr>
              <a:t>puede</a:t>
            </a:r>
            <a:r>
              <a:rPr sz="1550" spc="-12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ayudar</a:t>
            </a:r>
            <a:r>
              <a:rPr sz="1550" spc="114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porque </a:t>
            </a:r>
            <a:r>
              <a:rPr sz="1550" dirty="0">
                <a:latin typeface="Tahoma"/>
                <a:cs typeface="Tahoma"/>
              </a:rPr>
              <a:t>el</a:t>
            </a:r>
            <a:r>
              <a:rPr sz="1550" spc="-5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colegio</a:t>
            </a:r>
            <a:r>
              <a:rPr sz="1550" spc="-1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es</a:t>
            </a:r>
            <a:r>
              <a:rPr sz="1550" spc="-125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particular subvencionado</a:t>
            </a:r>
            <a:endParaRPr sz="15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99739" y="1096695"/>
            <a:ext cx="5933440" cy="8655685"/>
            <a:chOff x="9099739" y="1096695"/>
            <a:chExt cx="5933440" cy="8655685"/>
          </a:xfrm>
        </p:grpSpPr>
        <p:sp>
          <p:nvSpPr>
            <p:cNvPr id="3" name="object 3"/>
            <p:cNvSpPr/>
            <p:nvPr/>
          </p:nvSpPr>
          <p:spPr>
            <a:xfrm>
              <a:off x="11859767" y="1096695"/>
              <a:ext cx="3173095" cy="8655685"/>
            </a:xfrm>
            <a:custGeom>
              <a:avLst/>
              <a:gdLst/>
              <a:ahLst/>
              <a:cxnLst/>
              <a:rect l="l" t="t" r="r" b="b"/>
              <a:pathLst>
                <a:path w="3173094" h="8655685">
                  <a:moveTo>
                    <a:pt x="3172968" y="0"/>
                  </a:moveTo>
                  <a:lnTo>
                    <a:pt x="0" y="0"/>
                  </a:lnTo>
                  <a:lnTo>
                    <a:pt x="0" y="8655304"/>
                  </a:lnTo>
                  <a:lnTo>
                    <a:pt x="3172968" y="8655304"/>
                  </a:lnTo>
                  <a:lnTo>
                    <a:pt x="3172968" y="0"/>
                  </a:lnTo>
                  <a:close/>
                </a:path>
              </a:pathLst>
            </a:custGeom>
            <a:solidFill>
              <a:srgbClr val="F4B96F">
                <a:alpha val="2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04502" y="2019300"/>
              <a:ext cx="2794000" cy="5510530"/>
            </a:xfrm>
            <a:custGeom>
              <a:avLst/>
              <a:gdLst/>
              <a:ahLst/>
              <a:cxnLst/>
              <a:rect l="l" t="t" r="r" b="b"/>
              <a:pathLst>
                <a:path w="2794000" h="5510530">
                  <a:moveTo>
                    <a:pt x="2719324" y="0"/>
                  </a:moveTo>
                  <a:lnTo>
                    <a:pt x="0" y="2792221"/>
                  </a:lnTo>
                  <a:lnTo>
                    <a:pt x="2793492" y="5510403"/>
                  </a:lnTo>
                  <a:lnTo>
                    <a:pt x="2719324" y="0"/>
                  </a:lnTo>
                  <a:close/>
                </a:path>
              </a:pathLst>
            </a:custGeom>
            <a:solidFill>
              <a:srgbClr val="C0ADF4">
                <a:alpha val="1607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04502" y="2019300"/>
              <a:ext cx="2794000" cy="5510530"/>
            </a:xfrm>
            <a:custGeom>
              <a:avLst/>
              <a:gdLst/>
              <a:ahLst/>
              <a:cxnLst/>
              <a:rect l="l" t="t" r="r" b="b"/>
              <a:pathLst>
                <a:path w="2794000" h="5510530">
                  <a:moveTo>
                    <a:pt x="0" y="2792221"/>
                  </a:moveTo>
                  <a:lnTo>
                    <a:pt x="2719324" y="0"/>
                  </a:lnTo>
                  <a:lnTo>
                    <a:pt x="2793492" y="5510403"/>
                  </a:lnTo>
                  <a:lnTo>
                    <a:pt x="0" y="279222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20623" y="1096772"/>
            <a:ext cx="3063240" cy="7659370"/>
          </a:xfrm>
          <a:custGeom>
            <a:avLst/>
            <a:gdLst/>
            <a:ahLst/>
            <a:cxnLst/>
            <a:rect l="l" t="t" r="r" b="b"/>
            <a:pathLst>
              <a:path w="3063240" h="7659370">
                <a:moveTo>
                  <a:pt x="3063240" y="0"/>
                </a:moveTo>
                <a:lnTo>
                  <a:pt x="0" y="0"/>
                </a:lnTo>
                <a:lnTo>
                  <a:pt x="0" y="7658989"/>
                </a:lnTo>
                <a:lnTo>
                  <a:pt x="3063240" y="7658989"/>
                </a:lnTo>
                <a:lnTo>
                  <a:pt x="3063240" y="0"/>
                </a:lnTo>
                <a:close/>
              </a:path>
            </a:pathLst>
          </a:custGeom>
          <a:solidFill>
            <a:srgbClr val="8BE7D1">
              <a:alpha val="2156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3522217" y="2125344"/>
            <a:ext cx="5587365" cy="5591810"/>
            <a:chOff x="3522217" y="2125344"/>
            <a:chExt cx="5587365" cy="5591810"/>
          </a:xfrm>
        </p:grpSpPr>
        <p:sp>
          <p:nvSpPr>
            <p:cNvPr id="8" name="object 8"/>
            <p:cNvSpPr/>
            <p:nvPr/>
          </p:nvSpPr>
          <p:spPr>
            <a:xfrm>
              <a:off x="3540759" y="2142108"/>
              <a:ext cx="5479415" cy="5476875"/>
            </a:xfrm>
            <a:custGeom>
              <a:avLst/>
              <a:gdLst/>
              <a:ahLst/>
              <a:cxnLst/>
              <a:rect l="l" t="t" r="r" b="b"/>
              <a:pathLst>
                <a:path w="5479415" h="5476875">
                  <a:moveTo>
                    <a:pt x="2702941" y="0"/>
                  </a:moveTo>
                  <a:lnTo>
                    <a:pt x="5479288" y="2701543"/>
                  </a:lnTo>
                  <a:lnTo>
                    <a:pt x="2776474" y="5476748"/>
                  </a:lnTo>
                  <a:lnTo>
                    <a:pt x="0" y="2775077"/>
                  </a:lnTo>
                  <a:lnTo>
                    <a:pt x="2702941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15963" y="2206751"/>
              <a:ext cx="2794000" cy="5510530"/>
            </a:xfrm>
            <a:custGeom>
              <a:avLst/>
              <a:gdLst/>
              <a:ahLst/>
              <a:cxnLst/>
              <a:rect l="l" t="t" r="r" b="b"/>
              <a:pathLst>
                <a:path w="2794000" h="5510530">
                  <a:moveTo>
                    <a:pt x="0" y="0"/>
                  </a:moveTo>
                  <a:lnTo>
                    <a:pt x="74168" y="5510276"/>
                  </a:lnTo>
                  <a:lnTo>
                    <a:pt x="2793491" y="2718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06E">
                <a:alpha val="2431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22217" y="2125344"/>
              <a:ext cx="2794000" cy="5510530"/>
            </a:xfrm>
            <a:custGeom>
              <a:avLst/>
              <a:gdLst/>
              <a:ahLst/>
              <a:cxnLst/>
              <a:rect l="l" t="t" r="r" b="b"/>
              <a:pathLst>
                <a:path w="2794000" h="5510530">
                  <a:moveTo>
                    <a:pt x="2719451" y="0"/>
                  </a:moveTo>
                  <a:lnTo>
                    <a:pt x="0" y="2792222"/>
                  </a:lnTo>
                  <a:lnTo>
                    <a:pt x="2793619" y="5510403"/>
                  </a:lnTo>
                  <a:lnTo>
                    <a:pt x="2719451" y="0"/>
                  </a:lnTo>
                  <a:close/>
                </a:path>
              </a:pathLst>
            </a:custGeom>
            <a:solidFill>
              <a:srgbClr val="F790B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2220956" y="5305552"/>
            <a:ext cx="2185670" cy="1435100"/>
          </a:xfrm>
          <a:custGeom>
            <a:avLst/>
            <a:gdLst/>
            <a:ahLst/>
            <a:cxnLst/>
            <a:rect l="l" t="t" r="r" b="b"/>
            <a:pathLst>
              <a:path w="2185669" h="1435100">
                <a:moveTo>
                  <a:pt x="2185415" y="0"/>
                </a:moveTo>
                <a:lnTo>
                  <a:pt x="0" y="0"/>
                </a:lnTo>
                <a:lnTo>
                  <a:pt x="0" y="1434973"/>
                </a:lnTo>
                <a:lnTo>
                  <a:pt x="2185415" y="1434973"/>
                </a:lnTo>
                <a:lnTo>
                  <a:pt x="2185415" y="0"/>
                </a:lnTo>
                <a:close/>
              </a:path>
            </a:pathLst>
          </a:custGeom>
          <a:solidFill>
            <a:srgbClr val="F4B9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220956" y="5305552"/>
            <a:ext cx="2185670" cy="1435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0"/>
              </a:spcBef>
            </a:pPr>
            <a:endParaRPr sz="1200">
              <a:latin typeface="Times New Roman"/>
              <a:cs typeface="Times New Roman"/>
            </a:endParaRPr>
          </a:p>
          <a:p>
            <a:pPr marL="147955" marR="127635" algn="ctr">
              <a:lnSpc>
                <a:spcPct val="100000"/>
              </a:lnSpc>
            </a:pPr>
            <a:r>
              <a:rPr sz="1200" spc="-25" dirty="0">
                <a:latin typeface="Tahoma"/>
                <a:cs typeface="Tahoma"/>
              </a:rPr>
              <a:t>Aprendimos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que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rapidez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de acceso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herramienta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es </a:t>
            </a:r>
            <a:r>
              <a:rPr sz="1200" spc="-60" dirty="0">
                <a:latin typeface="Tahoma"/>
                <a:cs typeface="Tahoma"/>
              </a:rPr>
              <a:t>vital;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si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toma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más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dos</a:t>
            </a:r>
            <a:r>
              <a:rPr sz="1200" spc="-15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clics llegar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solución,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app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no </a:t>
            </a:r>
            <a:r>
              <a:rPr sz="1200" spc="-40" dirty="0">
                <a:latin typeface="Tahoma"/>
                <a:cs typeface="Tahoma"/>
              </a:rPr>
              <a:t>sirve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en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una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crisis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real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220956" y="1832482"/>
            <a:ext cx="2185670" cy="1435100"/>
          </a:xfrm>
          <a:custGeom>
            <a:avLst/>
            <a:gdLst/>
            <a:ahLst/>
            <a:cxnLst/>
            <a:rect l="l" t="t" r="r" b="b"/>
            <a:pathLst>
              <a:path w="2185669" h="1435100">
                <a:moveTo>
                  <a:pt x="2185415" y="0"/>
                </a:moveTo>
                <a:lnTo>
                  <a:pt x="0" y="0"/>
                </a:lnTo>
                <a:lnTo>
                  <a:pt x="0" y="1434973"/>
                </a:lnTo>
                <a:lnTo>
                  <a:pt x="2185415" y="1434973"/>
                </a:lnTo>
                <a:lnTo>
                  <a:pt x="2185415" y="0"/>
                </a:lnTo>
                <a:close/>
              </a:path>
            </a:pathLst>
          </a:custGeom>
          <a:solidFill>
            <a:srgbClr val="F4B9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2220956" y="1832482"/>
            <a:ext cx="2185670" cy="14351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140335" marR="134620" algn="ctr">
              <a:lnSpc>
                <a:spcPct val="100200"/>
              </a:lnSpc>
              <a:spcBef>
                <a:spcPts val="815"/>
              </a:spcBef>
            </a:pPr>
            <a:r>
              <a:rPr sz="1200" spc="-25" dirty="0">
                <a:latin typeface="Tahoma"/>
                <a:cs typeface="Tahoma"/>
              </a:rPr>
              <a:t>Que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la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tecnología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debe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ser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un </a:t>
            </a:r>
            <a:r>
              <a:rPr sz="1200" spc="-35" dirty="0">
                <a:latin typeface="Tahoma"/>
                <a:cs typeface="Tahoma"/>
              </a:rPr>
              <a:t>puente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de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calma,</a:t>
            </a:r>
            <a:r>
              <a:rPr sz="1200" spc="-1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no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un </a:t>
            </a:r>
            <a:r>
              <a:rPr sz="1200" spc="-20" dirty="0">
                <a:latin typeface="Tahoma"/>
                <a:cs typeface="Tahoma"/>
              </a:rPr>
              <a:t>distractor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más.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La </a:t>
            </a:r>
            <a:r>
              <a:rPr sz="1200" spc="-30" dirty="0">
                <a:latin typeface="Tahoma"/>
                <a:cs typeface="Tahoma"/>
              </a:rPr>
              <a:t>personalización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es</a:t>
            </a:r>
            <a:r>
              <a:rPr sz="1200" spc="-14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clave </a:t>
            </a:r>
            <a:r>
              <a:rPr sz="1200" spc="-30" dirty="0">
                <a:latin typeface="Tahoma"/>
                <a:cs typeface="Tahoma"/>
              </a:rPr>
              <a:t>porque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cada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niño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con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TEA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es </a:t>
            </a:r>
            <a:r>
              <a:rPr sz="1200" spc="-30" dirty="0">
                <a:latin typeface="Tahoma"/>
                <a:cs typeface="Tahoma"/>
              </a:rPr>
              <a:t>un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mundo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diferente</a:t>
            </a:r>
            <a:r>
              <a:rPr sz="1550" spc="-10" dirty="0">
                <a:latin typeface="Tahoma"/>
                <a:cs typeface="Tahoma"/>
              </a:rPr>
              <a:t>.</a:t>
            </a:r>
            <a:endParaRPr sz="15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7090" y="237235"/>
            <a:ext cx="14631669" cy="8683625"/>
            <a:chOff x="347090" y="237235"/>
            <a:chExt cx="14631669" cy="8683625"/>
          </a:xfrm>
        </p:grpSpPr>
        <p:sp>
          <p:nvSpPr>
            <p:cNvPr id="16" name="object 16"/>
            <p:cNvSpPr/>
            <p:nvPr/>
          </p:nvSpPr>
          <p:spPr>
            <a:xfrm>
              <a:off x="356615" y="246760"/>
              <a:ext cx="14612619" cy="8664575"/>
            </a:xfrm>
            <a:custGeom>
              <a:avLst/>
              <a:gdLst/>
              <a:ahLst/>
              <a:cxnLst/>
              <a:rect l="l" t="t" r="r" b="b"/>
              <a:pathLst>
                <a:path w="14612619" h="8664575">
                  <a:moveTo>
                    <a:pt x="127" y="2285"/>
                  </a:moveTo>
                  <a:lnTo>
                    <a:pt x="0" y="8664397"/>
                  </a:lnTo>
                  <a:lnTo>
                    <a:pt x="14611858" y="8664397"/>
                  </a:lnTo>
                  <a:lnTo>
                    <a:pt x="14612112" y="0"/>
                  </a:lnTo>
                </a:path>
              </a:pathLst>
            </a:custGeom>
            <a:ln w="19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046855" y="5088902"/>
              <a:ext cx="2044700" cy="895985"/>
            </a:xfrm>
            <a:custGeom>
              <a:avLst/>
              <a:gdLst/>
              <a:ahLst/>
              <a:cxnLst/>
              <a:rect l="l" t="t" r="r" b="b"/>
              <a:pathLst>
                <a:path w="2044700" h="895985">
                  <a:moveTo>
                    <a:pt x="1550924" y="310769"/>
                  </a:moveTo>
                  <a:lnTo>
                    <a:pt x="493649" y="310769"/>
                  </a:lnTo>
                  <a:lnTo>
                    <a:pt x="493649" y="594093"/>
                  </a:lnTo>
                  <a:lnTo>
                    <a:pt x="1550924" y="594093"/>
                  </a:lnTo>
                  <a:lnTo>
                    <a:pt x="1550924" y="310769"/>
                  </a:lnTo>
                  <a:close/>
                </a:path>
                <a:path w="2044700" h="895985">
                  <a:moveTo>
                    <a:pt x="1693799" y="612394"/>
                  </a:moveTo>
                  <a:lnTo>
                    <a:pt x="280924" y="612394"/>
                  </a:lnTo>
                  <a:lnTo>
                    <a:pt x="280924" y="895718"/>
                  </a:lnTo>
                  <a:lnTo>
                    <a:pt x="1693799" y="895718"/>
                  </a:lnTo>
                  <a:lnTo>
                    <a:pt x="1693799" y="612394"/>
                  </a:lnTo>
                  <a:close/>
                </a:path>
                <a:path w="2044700" h="895985">
                  <a:moveTo>
                    <a:pt x="2044700" y="0"/>
                  </a:moveTo>
                  <a:lnTo>
                    <a:pt x="0" y="0"/>
                  </a:lnTo>
                  <a:lnTo>
                    <a:pt x="0" y="283324"/>
                  </a:lnTo>
                  <a:lnTo>
                    <a:pt x="2044700" y="283324"/>
                  </a:lnTo>
                  <a:lnTo>
                    <a:pt x="2044700" y="0"/>
                  </a:lnTo>
                  <a:close/>
                </a:path>
              </a:pathLst>
            </a:custGeom>
            <a:solidFill>
              <a:srgbClr val="F79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273041" y="4788243"/>
            <a:ext cx="1532255" cy="2863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25"/>
              </a:lnSpc>
            </a:pPr>
            <a:r>
              <a:rPr sz="2000" dirty="0">
                <a:latin typeface="Arial MT"/>
                <a:cs typeface="Arial MT"/>
              </a:rPr>
              <a:t>Definición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36567" y="5053710"/>
            <a:ext cx="199898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 MT"/>
                <a:cs typeface="Arial MT"/>
              </a:rPr>
              <a:t>Problema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(POV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30597" y="5364607"/>
            <a:ext cx="101790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 MT"/>
                <a:cs typeface="Arial MT"/>
              </a:rPr>
              <a:t>Mapa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17746" y="5666041"/>
            <a:ext cx="143637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10" dirty="0">
                <a:latin typeface="Arial MT"/>
                <a:cs typeface="Arial MT"/>
              </a:rPr>
              <a:t>Experiencia)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91224" y="4787277"/>
            <a:ext cx="1990725" cy="585470"/>
          </a:xfrm>
          <a:custGeom>
            <a:avLst/>
            <a:gdLst/>
            <a:ahLst/>
            <a:cxnLst/>
            <a:rect l="l" t="t" r="r" b="b"/>
            <a:pathLst>
              <a:path w="1990725" h="585470">
                <a:moveTo>
                  <a:pt x="1898015" y="0"/>
                </a:moveTo>
                <a:lnTo>
                  <a:pt x="162814" y="0"/>
                </a:lnTo>
                <a:lnTo>
                  <a:pt x="162814" y="283324"/>
                </a:lnTo>
                <a:lnTo>
                  <a:pt x="1898015" y="283324"/>
                </a:lnTo>
                <a:lnTo>
                  <a:pt x="1898015" y="0"/>
                </a:lnTo>
                <a:close/>
              </a:path>
              <a:path w="1990725" h="585470">
                <a:moveTo>
                  <a:pt x="1990725" y="301625"/>
                </a:moveTo>
                <a:lnTo>
                  <a:pt x="0" y="301625"/>
                </a:lnTo>
                <a:lnTo>
                  <a:pt x="0" y="584949"/>
                </a:lnTo>
                <a:lnTo>
                  <a:pt x="1990725" y="584949"/>
                </a:lnTo>
                <a:lnTo>
                  <a:pt x="1990725" y="301625"/>
                </a:lnTo>
                <a:close/>
              </a:path>
            </a:pathLst>
          </a:custGeom>
          <a:solidFill>
            <a:srgbClr val="EBF0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645402" y="4751260"/>
            <a:ext cx="169418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 MT"/>
                <a:cs typeface="Arial MT"/>
              </a:rPr>
              <a:t>Generación</a:t>
            </a:r>
            <a:r>
              <a:rPr sz="2000" spc="-1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82334" y="5053710"/>
            <a:ext cx="201358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 MT"/>
                <a:cs typeface="Arial MT"/>
              </a:rPr>
              <a:t>Ideas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Selección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238867" y="4650180"/>
            <a:ext cx="1040130" cy="731520"/>
          </a:xfrm>
          <a:custGeom>
            <a:avLst/>
            <a:gdLst/>
            <a:ahLst/>
            <a:cxnLst/>
            <a:rect l="l" t="t" r="r" b="b"/>
            <a:pathLst>
              <a:path w="1040129" h="731520">
                <a:moveTo>
                  <a:pt x="1039812" y="0"/>
                </a:moveTo>
                <a:lnTo>
                  <a:pt x="0" y="0"/>
                </a:lnTo>
                <a:lnTo>
                  <a:pt x="0" y="420420"/>
                </a:lnTo>
                <a:lnTo>
                  <a:pt x="100076" y="420420"/>
                </a:lnTo>
                <a:lnTo>
                  <a:pt x="100076" y="731189"/>
                </a:lnTo>
                <a:lnTo>
                  <a:pt x="939863" y="731189"/>
                </a:lnTo>
                <a:lnTo>
                  <a:pt x="939863" y="420420"/>
                </a:lnTo>
                <a:lnTo>
                  <a:pt x="1039812" y="420420"/>
                </a:lnTo>
                <a:lnTo>
                  <a:pt x="1039812" y="0"/>
                </a:lnTo>
                <a:close/>
              </a:path>
            </a:pathLst>
          </a:custGeom>
          <a:solidFill>
            <a:srgbClr val="C0A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232390" y="4705540"/>
            <a:ext cx="1064260" cy="6445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-80" dirty="0">
                <a:latin typeface="Arial"/>
                <a:cs typeface="Arial"/>
              </a:rPr>
              <a:t>Prototipo</a:t>
            </a:r>
            <a:endParaRPr sz="2000">
              <a:latin typeface="Arial"/>
              <a:cs typeface="Arial"/>
            </a:endParaRPr>
          </a:p>
          <a:p>
            <a:pPr marL="112395">
              <a:lnSpc>
                <a:spcPct val="100000"/>
              </a:lnSpc>
              <a:spcBef>
                <a:spcPts val="55"/>
              </a:spcBef>
            </a:pPr>
            <a:r>
              <a:rPr sz="2000" b="1" spc="-35" dirty="0">
                <a:latin typeface="Arial"/>
                <a:cs typeface="Arial"/>
              </a:rPr>
              <a:t>(básico)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1823001" y="1064577"/>
            <a:ext cx="2508250" cy="8603615"/>
            <a:chOff x="11823001" y="1064577"/>
            <a:chExt cx="2508250" cy="8603615"/>
          </a:xfrm>
        </p:grpSpPr>
        <p:sp>
          <p:nvSpPr>
            <p:cNvPr id="28" name="object 28"/>
            <p:cNvSpPr/>
            <p:nvPr/>
          </p:nvSpPr>
          <p:spPr>
            <a:xfrm>
              <a:off x="11900916" y="7535672"/>
              <a:ext cx="0" cy="2127885"/>
            </a:xfrm>
            <a:custGeom>
              <a:avLst/>
              <a:gdLst/>
              <a:ahLst/>
              <a:cxnLst/>
              <a:rect l="l" t="t" r="r" b="b"/>
              <a:pathLst>
                <a:path h="2127884">
                  <a:moveTo>
                    <a:pt x="0" y="0"/>
                  </a:moveTo>
                  <a:lnTo>
                    <a:pt x="0" y="2127618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827764" y="1069339"/>
              <a:ext cx="0" cy="955040"/>
            </a:xfrm>
            <a:custGeom>
              <a:avLst/>
              <a:gdLst/>
              <a:ahLst/>
              <a:cxnLst/>
              <a:rect l="l" t="t" r="r" b="b"/>
              <a:pathLst>
                <a:path h="955039">
                  <a:moveTo>
                    <a:pt x="0" y="0"/>
                  </a:moveTo>
                  <a:lnTo>
                    <a:pt x="0" y="954658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506833" y="4650181"/>
              <a:ext cx="1824355" cy="421005"/>
            </a:xfrm>
            <a:custGeom>
              <a:avLst/>
              <a:gdLst/>
              <a:ahLst/>
              <a:cxnLst/>
              <a:rect l="l" t="t" r="r" b="b"/>
              <a:pathLst>
                <a:path w="1824355" h="421004">
                  <a:moveTo>
                    <a:pt x="1824101" y="0"/>
                  </a:moveTo>
                  <a:lnTo>
                    <a:pt x="0" y="0"/>
                  </a:lnTo>
                  <a:lnTo>
                    <a:pt x="0" y="420420"/>
                  </a:lnTo>
                  <a:lnTo>
                    <a:pt x="1824101" y="420420"/>
                  </a:lnTo>
                  <a:lnTo>
                    <a:pt x="1824101" y="0"/>
                  </a:lnTo>
                  <a:close/>
                </a:path>
              </a:pathLst>
            </a:custGeom>
            <a:solidFill>
              <a:srgbClr val="F4B9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2501626" y="4705540"/>
            <a:ext cx="184975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b="1" spc="-150" dirty="0">
                <a:latin typeface="Arial"/>
                <a:cs typeface="Arial"/>
              </a:rPr>
              <a:t>CONCLUSIONES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188719" y="1096581"/>
            <a:ext cx="2313940" cy="8656320"/>
            <a:chOff x="1188719" y="1096581"/>
            <a:chExt cx="2313940" cy="8656320"/>
          </a:xfrm>
        </p:grpSpPr>
        <p:sp>
          <p:nvSpPr>
            <p:cNvPr id="33" name="object 33"/>
            <p:cNvSpPr/>
            <p:nvPr/>
          </p:nvSpPr>
          <p:spPr>
            <a:xfrm>
              <a:off x="3497580" y="1101344"/>
              <a:ext cx="0" cy="8646795"/>
            </a:xfrm>
            <a:custGeom>
              <a:avLst/>
              <a:gdLst/>
              <a:ahLst/>
              <a:cxnLst/>
              <a:rect l="l" t="t" r="r" b="b"/>
              <a:pathLst>
                <a:path h="8646795">
                  <a:moveTo>
                    <a:pt x="0" y="2111248"/>
                  </a:moveTo>
                  <a:lnTo>
                    <a:pt x="0" y="8646439"/>
                  </a:lnTo>
                </a:path>
                <a:path h="8646795">
                  <a:moveTo>
                    <a:pt x="0" y="0"/>
                  </a:moveTo>
                  <a:lnTo>
                    <a:pt x="0" y="676275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88720" y="4773040"/>
              <a:ext cx="1597025" cy="895985"/>
            </a:xfrm>
            <a:custGeom>
              <a:avLst/>
              <a:gdLst/>
              <a:ahLst/>
              <a:cxnLst/>
              <a:rect l="l" t="t" r="r" b="b"/>
              <a:pathLst>
                <a:path w="1597025" h="895985">
                  <a:moveTo>
                    <a:pt x="1235900" y="612279"/>
                  </a:moveTo>
                  <a:lnTo>
                    <a:pt x="291338" y="612279"/>
                  </a:lnTo>
                  <a:lnTo>
                    <a:pt x="291338" y="895604"/>
                  </a:lnTo>
                  <a:lnTo>
                    <a:pt x="1235900" y="895604"/>
                  </a:lnTo>
                  <a:lnTo>
                    <a:pt x="1235900" y="612279"/>
                  </a:lnTo>
                  <a:close/>
                </a:path>
                <a:path w="1597025" h="895985">
                  <a:moveTo>
                    <a:pt x="1439926" y="301625"/>
                  </a:moveTo>
                  <a:lnTo>
                    <a:pt x="157226" y="301625"/>
                  </a:lnTo>
                  <a:lnTo>
                    <a:pt x="157226" y="584962"/>
                  </a:lnTo>
                  <a:lnTo>
                    <a:pt x="1439926" y="584962"/>
                  </a:lnTo>
                  <a:lnTo>
                    <a:pt x="1439926" y="301625"/>
                  </a:lnTo>
                  <a:close/>
                </a:path>
                <a:path w="1597025" h="895985">
                  <a:moveTo>
                    <a:pt x="1597025" y="0"/>
                  </a:moveTo>
                  <a:lnTo>
                    <a:pt x="0" y="0"/>
                  </a:lnTo>
                  <a:lnTo>
                    <a:pt x="0" y="283337"/>
                  </a:lnTo>
                  <a:lnTo>
                    <a:pt x="1597025" y="283337"/>
                  </a:lnTo>
                  <a:lnTo>
                    <a:pt x="1597025" y="0"/>
                  </a:lnTo>
                  <a:close/>
                </a:path>
              </a:pathLst>
            </a:custGeom>
            <a:solidFill>
              <a:srgbClr val="8BE7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176655" y="4737480"/>
            <a:ext cx="155638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 MT"/>
                <a:cs typeface="Arial MT"/>
              </a:rPr>
              <a:t>Definición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del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34008" y="5038915"/>
            <a:ext cx="124079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latin typeface="Arial MT"/>
                <a:cs typeface="Arial MT"/>
              </a:rPr>
              <a:t>Contexto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spc="-50" dirty="0">
                <a:latin typeface="Arial MT"/>
                <a:cs typeface="Arial MT"/>
              </a:rPr>
              <a:t>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68374" y="5350383"/>
            <a:ext cx="972185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-10" dirty="0">
                <a:latin typeface="Arial MT"/>
                <a:cs typeface="Arial MT"/>
              </a:rPr>
              <a:t>Empatía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74713" y="1069149"/>
            <a:ext cx="8696325" cy="8656320"/>
            <a:chOff x="374713" y="1069149"/>
            <a:chExt cx="8696325" cy="8656320"/>
          </a:xfrm>
        </p:grpSpPr>
        <p:sp>
          <p:nvSpPr>
            <p:cNvPr id="39" name="object 39"/>
            <p:cNvSpPr/>
            <p:nvPr/>
          </p:nvSpPr>
          <p:spPr>
            <a:xfrm>
              <a:off x="9066275" y="1073911"/>
              <a:ext cx="0" cy="8646795"/>
            </a:xfrm>
            <a:custGeom>
              <a:avLst/>
              <a:gdLst/>
              <a:ahLst/>
              <a:cxnLst/>
              <a:rect l="l" t="t" r="r" b="b"/>
              <a:pathLst>
                <a:path h="8646795">
                  <a:moveTo>
                    <a:pt x="0" y="0"/>
                  </a:moveTo>
                  <a:lnTo>
                    <a:pt x="0" y="8646452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79475" y="5771641"/>
              <a:ext cx="2185670" cy="1435100"/>
            </a:xfrm>
            <a:custGeom>
              <a:avLst/>
              <a:gdLst/>
              <a:ahLst/>
              <a:cxnLst/>
              <a:rect l="l" t="t" r="r" b="b"/>
              <a:pathLst>
                <a:path w="2185670" h="1435100">
                  <a:moveTo>
                    <a:pt x="2185416" y="0"/>
                  </a:moveTo>
                  <a:lnTo>
                    <a:pt x="0" y="0"/>
                  </a:lnTo>
                  <a:lnTo>
                    <a:pt x="0" y="1434973"/>
                  </a:lnTo>
                  <a:lnTo>
                    <a:pt x="2185416" y="1434973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8BE7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79475" y="5771641"/>
              <a:ext cx="2185670" cy="1435100"/>
            </a:xfrm>
            <a:custGeom>
              <a:avLst/>
              <a:gdLst/>
              <a:ahLst/>
              <a:cxnLst/>
              <a:rect l="l" t="t" r="r" b="b"/>
              <a:pathLst>
                <a:path w="2185670" h="1435100">
                  <a:moveTo>
                    <a:pt x="0" y="1434973"/>
                  </a:moveTo>
                  <a:lnTo>
                    <a:pt x="2185416" y="1434973"/>
                  </a:lnTo>
                  <a:lnTo>
                    <a:pt x="2185416" y="0"/>
                  </a:lnTo>
                  <a:lnTo>
                    <a:pt x="0" y="0"/>
                  </a:lnTo>
                  <a:lnTo>
                    <a:pt x="0" y="14349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13549" y="5797486"/>
            <a:ext cx="1914525" cy="1310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25"/>
              </a:spcBef>
            </a:pPr>
            <a:r>
              <a:rPr sz="1200" spc="-30" dirty="0">
                <a:latin typeface="Tahoma"/>
                <a:cs typeface="Tahoma"/>
              </a:rPr>
              <a:t>Porque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una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crisis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no </a:t>
            </a:r>
            <a:r>
              <a:rPr sz="1200" spc="-30" dirty="0">
                <a:latin typeface="Tahoma"/>
                <a:cs typeface="Tahoma"/>
              </a:rPr>
              <a:t>gestionada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tiempo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afecta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el </a:t>
            </a:r>
            <a:r>
              <a:rPr sz="1200" spc="-35" dirty="0">
                <a:latin typeface="Tahoma"/>
                <a:cs typeface="Tahoma"/>
              </a:rPr>
              <a:t>bienestar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del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niño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y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su entorno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45" dirty="0">
                <a:latin typeface="Tahoma"/>
                <a:cs typeface="Tahoma"/>
              </a:rPr>
              <a:t>,</a:t>
            </a:r>
            <a:r>
              <a:rPr sz="1200" spc="-15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y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muchas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veces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los </a:t>
            </a:r>
            <a:r>
              <a:rPr sz="1200" spc="-30" dirty="0">
                <a:latin typeface="Tahoma"/>
                <a:cs typeface="Tahoma"/>
              </a:rPr>
              <a:t>cuidadores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no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tiene </a:t>
            </a:r>
            <a:r>
              <a:rPr sz="1200" spc="-35" dirty="0">
                <a:latin typeface="Tahoma"/>
                <a:cs typeface="Tahoma"/>
              </a:rPr>
              <a:t>herramientas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mano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en </a:t>
            </a:r>
            <a:r>
              <a:rPr sz="1200" spc="-35" dirty="0">
                <a:latin typeface="Tahoma"/>
                <a:cs typeface="Tahoma"/>
              </a:rPr>
              <a:t>lugares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públicos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524243" y="5506592"/>
            <a:ext cx="2176780" cy="1435100"/>
          </a:xfrm>
          <a:custGeom>
            <a:avLst/>
            <a:gdLst/>
            <a:ahLst/>
            <a:cxnLst/>
            <a:rect l="l" t="t" r="r" b="b"/>
            <a:pathLst>
              <a:path w="2176779" h="1435100">
                <a:moveTo>
                  <a:pt x="2176272" y="0"/>
                </a:moveTo>
                <a:lnTo>
                  <a:pt x="0" y="0"/>
                </a:lnTo>
                <a:lnTo>
                  <a:pt x="0" y="1434972"/>
                </a:lnTo>
                <a:lnTo>
                  <a:pt x="2176272" y="1434972"/>
                </a:lnTo>
                <a:lnTo>
                  <a:pt x="2176272" y="0"/>
                </a:lnTo>
                <a:close/>
              </a:path>
            </a:pathLst>
          </a:custGeom>
          <a:solidFill>
            <a:srgbClr val="EBF06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524243" y="5506592"/>
            <a:ext cx="2176780" cy="1450333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5565" rIns="0" bIns="0" rtlCol="0">
            <a:spAutoFit/>
          </a:bodyPr>
          <a:lstStyle/>
          <a:p>
            <a:pPr marL="181610" marR="155575" algn="ctr">
              <a:lnSpc>
                <a:spcPct val="105900"/>
              </a:lnSpc>
              <a:spcBef>
                <a:spcPts val="595"/>
              </a:spcBef>
            </a:pPr>
            <a:r>
              <a:rPr sz="850" dirty="0">
                <a:latin typeface="Tahoma"/>
                <a:cs typeface="Tahoma"/>
              </a:rPr>
              <a:t>Porque</a:t>
            </a:r>
            <a:r>
              <a:rPr sz="850" spc="-2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en</a:t>
            </a:r>
            <a:r>
              <a:rPr sz="850" spc="15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una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spc="-25" dirty="0">
                <a:latin typeface="Tahoma"/>
                <a:cs typeface="Tahoma"/>
              </a:rPr>
              <a:t>crisis,</a:t>
            </a:r>
            <a:r>
              <a:rPr sz="850" spc="-4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el</a:t>
            </a:r>
            <a:r>
              <a:rPr sz="850" spc="-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procesamiento verbal</a:t>
            </a:r>
            <a:r>
              <a:rPr sz="850" spc="-40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se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bloquea.</a:t>
            </a:r>
            <a:r>
              <a:rPr sz="850" spc="-6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Se</a:t>
            </a:r>
            <a:r>
              <a:rPr sz="850" spc="2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necesita</a:t>
            </a:r>
            <a:r>
              <a:rPr sz="850" spc="-45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algo </a:t>
            </a:r>
            <a:r>
              <a:rPr sz="850" dirty="0">
                <a:latin typeface="Tahoma"/>
                <a:cs typeface="Tahoma"/>
              </a:rPr>
              <a:t>visual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y</a:t>
            </a:r>
            <a:r>
              <a:rPr sz="850" spc="-35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predecible.Idea</a:t>
            </a:r>
            <a:r>
              <a:rPr sz="850" spc="1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seleccionada:</a:t>
            </a:r>
            <a:endParaRPr sz="850" dirty="0">
              <a:latin typeface="Tahoma"/>
              <a:cs typeface="Tahoma"/>
            </a:endParaRPr>
          </a:p>
          <a:p>
            <a:pPr marL="149225" marR="151765" algn="ctr">
              <a:lnSpc>
                <a:spcPct val="105900"/>
              </a:lnSpc>
            </a:pPr>
            <a:r>
              <a:rPr sz="850" dirty="0">
                <a:latin typeface="Tahoma"/>
                <a:cs typeface="Tahoma"/>
              </a:rPr>
              <a:t>Una</a:t>
            </a:r>
            <a:r>
              <a:rPr sz="850" spc="-3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app</a:t>
            </a:r>
            <a:r>
              <a:rPr sz="850" spc="1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de</a:t>
            </a:r>
            <a:r>
              <a:rPr sz="850" spc="3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interfaz</a:t>
            </a:r>
            <a:r>
              <a:rPr sz="850" spc="-6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minimalista</a:t>
            </a:r>
            <a:r>
              <a:rPr sz="850" spc="-3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con</a:t>
            </a:r>
            <a:r>
              <a:rPr sz="850" spc="-5" dirty="0">
                <a:latin typeface="Tahoma"/>
                <a:cs typeface="Tahoma"/>
              </a:rPr>
              <a:t> </a:t>
            </a:r>
            <a:r>
              <a:rPr sz="850" spc="-25" dirty="0">
                <a:latin typeface="Tahoma"/>
                <a:cs typeface="Tahoma"/>
              </a:rPr>
              <a:t>un </a:t>
            </a:r>
            <a:r>
              <a:rPr sz="850" dirty="0">
                <a:latin typeface="Tahoma"/>
                <a:cs typeface="Tahoma"/>
              </a:rPr>
              <a:t>"Botón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de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Pánico</a:t>
            </a:r>
            <a:r>
              <a:rPr sz="850" spc="30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Sensorial"</a:t>
            </a:r>
            <a:r>
              <a:rPr sz="850" spc="-3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que</a:t>
            </a:r>
            <a:r>
              <a:rPr lang="es-CL" sz="850" spc="-1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active</a:t>
            </a:r>
            <a:endParaRPr lang="es-CL" sz="850" dirty="0">
              <a:latin typeface="Tahoma"/>
              <a:cs typeface="Tahoma"/>
            </a:endParaRPr>
          </a:p>
          <a:p>
            <a:pPr marL="171450" marR="175260" algn="ctr">
              <a:lnSpc>
                <a:spcPct val="105900"/>
              </a:lnSpc>
            </a:pPr>
            <a:r>
              <a:rPr lang="es-CL" sz="850" dirty="0">
                <a:latin typeface="Tahoma"/>
                <a:cs typeface="Tahoma"/>
              </a:rPr>
              <a:t>rutinas</a:t>
            </a:r>
            <a:r>
              <a:rPr lang="es-CL" sz="850" spc="-35" dirty="0">
                <a:latin typeface="Tahoma"/>
                <a:cs typeface="Tahoma"/>
              </a:rPr>
              <a:t> </a:t>
            </a:r>
            <a:r>
              <a:rPr lang="es-CL" sz="850" dirty="0">
                <a:latin typeface="Tahoma"/>
                <a:cs typeface="Tahoma"/>
              </a:rPr>
              <a:t>de</a:t>
            </a:r>
            <a:r>
              <a:rPr lang="es-CL" sz="850" spc="-30" dirty="0">
                <a:latin typeface="Tahoma"/>
                <a:cs typeface="Tahoma"/>
              </a:rPr>
              <a:t> </a:t>
            </a:r>
            <a:r>
              <a:rPr lang="es-CL" sz="850" dirty="0">
                <a:latin typeface="Tahoma"/>
                <a:cs typeface="Tahoma"/>
              </a:rPr>
              <a:t>calma</a:t>
            </a:r>
            <a:r>
              <a:rPr lang="es-CL" sz="850" spc="-20" dirty="0">
                <a:latin typeface="Tahoma"/>
                <a:cs typeface="Tahoma"/>
              </a:rPr>
              <a:t> </a:t>
            </a:r>
            <a:r>
              <a:rPr lang="es-CL" sz="850" spc="-10" dirty="0">
                <a:latin typeface="Tahoma"/>
                <a:cs typeface="Tahoma"/>
              </a:rPr>
              <a:t>personalizadas</a:t>
            </a:r>
            <a:r>
              <a:rPr lang="es-CL" sz="850" spc="-30" dirty="0">
                <a:latin typeface="Tahoma"/>
                <a:cs typeface="Tahoma"/>
              </a:rPr>
              <a:t> </a:t>
            </a:r>
            <a:r>
              <a:rPr lang="es-CL" sz="850" spc="-10" dirty="0">
                <a:latin typeface="Tahoma"/>
                <a:cs typeface="Tahoma"/>
              </a:rPr>
              <a:t>(ruido blanco,</a:t>
            </a:r>
            <a:r>
              <a:rPr lang="es-CL" sz="850" spc="-55" dirty="0">
                <a:latin typeface="Tahoma"/>
                <a:cs typeface="Tahoma"/>
              </a:rPr>
              <a:t> </a:t>
            </a:r>
            <a:r>
              <a:rPr lang="es-CL" sz="850" dirty="0">
                <a:latin typeface="Tahoma"/>
                <a:cs typeface="Tahoma"/>
              </a:rPr>
              <a:t>pictogramas</a:t>
            </a:r>
            <a:r>
              <a:rPr lang="es-CL" sz="850" spc="-40" dirty="0">
                <a:latin typeface="Tahoma"/>
                <a:cs typeface="Tahoma"/>
              </a:rPr>
              <a:t> </a:t>
            </a:r>
            <a:r>
              <a:rPr lang="es-CL" sz="850" dirty="0">
                <a:latin typeface="Tahoma"/>
                <a:cs typeface="Tahoma"/>
              </a:rPr>
              <a:t>de</a:t>
            </a:r>
            <a:r>
              <a:rPr lang="es-CL" sz="850" spc="-40" dirty="0">
                <a:latin typeface="Tahoma"/>
                <a:cs typeface="Tahoma"/>
              </a:rPr>
              <a:t> </a:t>
            </a:r>
            <a:r>
              <a:rPr lang="es-CL" sz="850" spc="-10" dirty="0">
                <a:latin typeface="Tahoma"/>
                <a:cs typeface="Tahoma"/>
              </a:rPr>
              <a:t>necesidades </a:t>
            </a:r>
            <a:r>
              <a:rPr lang="es-CL" sz="850" dirty="0">
                <a:latin typeface="Tahoma"/>
                <a:cs typeface="Tahoma"/>
              </a:rPr>
              <a:t>básicas</a:t>
            </a:r>
            <a:r>
              <a:rPr lang="es-CL" sz="850" spc="-45" dirty="0">
                <a:latin typeface="Tahoma"/>
                <a:cs typeface="Tahoma"/>
              </a:rPr>
              <a:t> </a:t>
            </a:r>
            <a:r>
              <a:rPr lang="es-CL" sz="850" dirty="0">
                <a:latin typeface="Tahoma"/>
                <a:cs typeface="Tahoma"/>
              </a:rPr>
              <a:t>o</a:t>
            </a:r>
            <a:r>
              <a:rPr lang="es-CL" sz="850" spc="-5" dirty="0">
                <a:latin typeface="Tahoma"/>
                <a:cs typeface="Tahoma"/>
              </a:rPr>
              <a:t> </a:t>
            </a:r>
            <a:r>
              <a:rPr lang="es-CL" sz="850" spc="-10" dirty="0">
                <a:latin typeface="Tahoma"/>
                <a:cs typeface="Tahoma"/>
              </a:rPr>
              <a:t>ejercicios</a:t>
            </a:r>
            <a:r>
              <a:rPr lang="es-CL" sz="850" spc="-40" dirty="0">
                <a:latin typeface="Tahoma"/>
                <a:cs typeface="Tahoma"/>
              </a:rPr>
              <a:t> </a:t>
            </a:r>
            <a:r>
              <a:rPr lang="es-CL" sz="850" dirty="0">
                <a:latin typeface="Tahoma"/>
                <a:cs typeface="Tahoma"/>
              </a:rPr>
              <a:t>de</a:t>
            </a:r>
            <a:r>
              <a:rPr lang="es-CL" sz="850" spc="-45" dirty="0">
                <a:latin typeface="Tahoma"/>
                <a:cs typeface="Tahoma"/>
              </a:rPr>
              <a:t> </a:t>
            </a:r>
            <a:r>
              <a:rPr lang="es-CL" sz="850" spc="-10" dirty="0">
                <a:latin typeface="Tahoma"/>
                <a:cs typeface="Tahoma"/>
              </a:rPr>
              <a:t>presión profunda).</a:t>
            </a:r>
          </a:p>
          <a:p>
            <a:pPr marL="171450" marR="175260" algn="ctr">
              <a:lnSpc>
                <a:spcPct val="105900"/>
              </a:lnSpc>
            </a:pPr>
            <a:endParaRPr lang="es-CL" sz="850" spc="-10" dirty="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468611" y="6292596"/>
            <a:ext cx="2185670" cy="1426210"/>
          </a:xfrm>
          <a:prstGeom prst="rect">
            <a:avLst/>
          </a:prstGeom>
          <a:solidFill>
            <a:srgbClr val="C0ADF4"/>
          </a:solidFill>
          <a:ln w="9525">
            <a:solidFill>
              <a:srgbClr val="00000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850" dirty="0">
              <a:latin typeface="Times New Roman"/>
              <a:cs typeface="Times New Roman"/>
            </a:endParaRPr>
          </a:p>
          <a:p>
            <a:pPr marL="158115" marR="154940" indent="-2540" algn="ctr">
              <a:lnSpc>
                <a:spcPct val="105900"/>
              </a:lnSpc>
            </a:pPr>
            <a:r>
              <a:rPr sz="850" dirty="0">
                <a:latin typeface="Tahoma"/>
                <a:cs typeface="Tahoma"/>
              </a:rPr>
              <a:t>El</a:t>
            </a:r>
            <a:r>
              <a:rPr sz="850" spc="-3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diseño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debe</a:t>
            </a:r>
            <a:r>
              <a:rPr sz="850" spc="-4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facilitar</a:t>
            </a:r>
            <a:r>
              <a:rPr sz="850" spc="-5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que</a:t>
            </a:r>
            <a:r>
              <a:rPr sz="850" spc="-5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el</a:t>
            </a:r>
            <a:r>
              <a:rPr sz="850" spc="-3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niño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spc="-25" dirty="0">
                <a:latin typeface="Tahoma"/>
                <a:cs typeface="Tahoma"/>
              </a:rPr>
              <a:t>se </a:t>
            </a:r>
            <a:r>
              <a:rPr sz="850" spc="-10" dirty="0">
                <a:latin typeface="Tahoma"/>
                <a:cs typeface="Tahoma"/>
              </a:rPr>
              <a:t>exprese</a:t>
            </a:r>
            <a:r>
              <a:rPr sz="850" spc="-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de</a:t>
            </a:r>
            <a:r>
              <a:rPr sz="850" spc="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forma</a:t>
            </a:r>
            <a:r>
              <a:rPr sz="850" spc="-6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sencilla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spc="-25" dirty="0">
                <a:latin typeface="Tahoma"/>
                <a:cs typeface="Tahoma"/>
              </a:rPr>
              <a:t>(por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ejemplo, </a:t>
            </a:r>
            <a:r>
              <a:rPr sz="850" dirty="0">
                <a:latin typeface="Tahoma"/>
                <a:cs typeface="Tahoma"/>
              </a:rPr>
              <a:t>mediante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botones</a:t>
            </a:r>
            <a:r>
              <a:rPr sz="850" spc="2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de</a:t>
            </a:r>
            <a:r>
              <a:rPr sz="850" spc="2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necesidades </a:t>
            </a:r>
            <a:r>
              <a:rPr sz="850" spc="-25" dirty="0">
                <a:latin typeface="Tahoma"/>
                <a:cs typeface="Tahoma"/>
              </a:rPr>
              <a:t>básicas).</a:t>
            </a:r>
            <a:r>
              <a:rPr sz="850" spc="15" dirty="0">
                <a:latin typeface="Tahoma"/>
                <a:cs typeface="Tahoma"/>
              </a:rPr>
              <a:t> </a:t>
            </a:r>
            <a:r>
              <a:rPr sz="850" spc="-30" dirty="0">
                <a:latin typeface="Tahoma"/>
                <a:cs typeface="Tahoma"/>
              </a:rPr>
              <a:t>Cada</a:t>
            </a:r>
            <a:r>
              <a:rPr sz="850" spc="-4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logro</a:t>
            </a:r>
            <a:r>
              <a:rPr sz="850" spc="-1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debe</a:t>
            </a:r>
            <a:r>
              <a:rPr sz="850" spc="-4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tener</a:t>
            </a:r>
            <a:r>
              <a:rPr sz="850" spc="-45" dirty="0">
                <a:latin typeface="Tahoma"/>
                <a:cs typeface="Tahoma"/>
              </a:rPr>
              <a:t> </a:t>
            </a:r>
            <a:r>
              <a:rPr sz="850" spc="-25" dirty="0">
                <a:latin typeface="Tahoma"/>
                <a:cs typeface="Tahoma"/>
              </a:rPr>
              <a:t>una</a:t>
            </a:r>
            <a:endParaRPr sz="850" dirty="0">
              <a:latin typeface="Tahoma"/>
              <a:cs typeface="Tahoma"/>
            </a:endParaRPr>
          </a:p>
          <a:p>
            <a:pPr marL="139700" marR="133350" algn="ctr">
              <a:lnSpc>
                <a:spcPct val="105900"/>
              </a:lnSpc>
            </a:pPr>
            <a:r>
              <a:rPr sz="850" spc="-10" dirty="0">
                <a:latin typeface="Tahoma"/>
                <a:cs typeface="Tahoma"/>
              </a:rPr>
              <a:t>respuesta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clara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y</a:t>
            </a:r>
            <a:r>
              <a:rPr sz="850" spc="10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constante:</a:t>
            </a:r>
            <a:r>
              <a:rPr sz="850" spc="-3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un</a:t>
            </a:r>
            <a:r>
              <a:rPr sz="850" spc="2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refuerzo suave</a:t>
            </a:r>
            <a:r>
              <a:rPr sz="850" spc="-2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que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le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confirme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que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lo</a:t>
            </a:r>
            <a:r>
              <a:rPr sz="850" spc="-6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hizo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bien, </a:t>
            </a:r>
            <a:r>
              <a:rPr sz="850" dirty="0">
                <a:latin typeface="Tahoma"/>
                <a:cs typeface="Tahoma"/>
              </a:rPr>
              <a:t>lo </a:t>
            </a:r>
            <a:r>
              <a:rPr sz="850" spc="-20" dirty="0">
                <a:latin typeface="Tahoma"/>
                <a:cs typeface="Tahoma"/>
              </a:rPr>
              <a:t>que</a:t>
            </a:r>
            <a:r>
              <a:rPr sz="850" spc="-3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genera</a:t>
            </a:r>
            <a:r>
              <a:rPr sz="850" spc="-3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confianza</a:t>
            </a:r>
            <a:r>
              <a:rPr sz="850" spc="-3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y</a:t>
            </a:r>
            <a:r>
              <a:rPr sz="850" spc="-10" dirty="0">
                <a:latin typeface="Tahoma"/>
                <a:cs typeface="Tahoma"/>
              </a:rPr>
              <a:t> seguridad</a:t>
            </a:r>
            <a:r>
              <a:rPr sz="850" spc="-75" dirty="0">
                <a:latin typeface="Tahoma"/>
                <a:cs typeface="Tahoma"/>
              </a:rPr>
              <a:t> </a:t>
            </a:r>
            <a:r>
              <a:rPr sz="850" spc="-25" dirty="0">
                <a:latin typeface="Tahoma"/>
                <a:cs typeface="Tahoma"/>
              </a:rPr>
              <a:t>en </a:t>
            </a:r>
            <a:r>
              <a:rPr sz="850" dirty="0">
                <a:latin typeface="Tahoma"/>
                <a:cs typeface="Tahoma"/>
              </a:rPr>
              <a:t>el</a:t>
            </a:r>
            <a:r>
              <a:rPr sz="850" spc="-5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uso</a:t>
            </a:r>
            <a:r>
              <a:rPr sz="850" spc="-2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de</a:t>
            </a:r>
            <a:r>
              <a:rPr sz="850" spc="-6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la</a:t>
            </a:r>
            <a:r>
              <a:rPr sz="850" spc="-50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herramienta</a:t>
            </a:r>
            <a:endParaRPr sz="850" dirty="0">
              <a:latin typeface="Tahoma"/>
              <a:cs typeface="Tahom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033081" y="3107245"/>
            <a:ext cx="2186305" cy="1444625"/>
            <a:chOff x="1033081" y="3107245"/>
            <a:chExt cx="2186305" cy="1444625"/>
          </a:xfrm>
        </p:grpSpPr>
        <p:sp>
          <p:nvSpPr>
            <p:cNvPr id="47" name="object 47"/>
            <p:cNvSpPr/>
            <p:nvPr/>
          </p:nvSpPr>
          <p:spPr>
            <a:xfrm>
              <a:off x="1037844" y="3112007"/>
              <a:ext cx="2176780" cy="1435100"/>
            </a:xfrm>
            <a:custGeom>
              <a:avLst/>
              <a:gdLst/>
              <a:ahLst/>
              <a:cxnLst/>
              <a:rect l="l" t="t" r="r" b="b"/>
              <a:pathLst>
                <a:path w="2176780" h="1435100">
                  <a:moveTo>
                    <a:pt x="2176272" y="0"/>
                  </a:moveTo>
                  <a:lnTo>
                    <a:pt x="0" y="0"/>
                  </a:lnTo>
                  <a:lnTo>
                    <a:pt x="0" y="1434973"/>
                  </a:lnTo>
                  <a:lnTo>
                    <a:pt x="2176272" y="1434973"/>
                  </a:lnTo>
                  <a:lnTo>
                    <a:pt x="2176272" y="0"/>
                  </a:lnTo>
                  <a:close/>
                </a:path>
              </a:pathLst>
            </a:custGeom>
            <a:solidFill>
              <a:srgbClr val="8BE7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37844" y="3112007"/>
              <a:ext cx="2176780" cy="1435100"/>
            </a:xfrm>
            <a:custGeom>
              <a:avLst/>
              <a:gdLst/>
              <a:ahLst/>
              <a:cxnLst/>
              <a:rect l="l" t="t" r="r" b="b"/>
              <a:pathLst>
                <a:path w="2176780" h="1435100">
                  <a:moveTo>
                    <a:pt x="0" y="1434973"/>
                  </a:moveTo>
                  <a:lnTo>
                    <a:pt x="2176272" y="1434973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14349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200924" y="3146044"/>
            <a:ext cx="1836420" cy="12954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4445" algn="ctr">
              <a:lnSpc>
                <a:spcPct val="103099"/>
              </a:lnSpc>
              <a:spcBef>
                <a:spcPts val="65"/>
              </a:spcBef>
            </a:pPr>
            <a:r>
              <a:rPr sz="1350" spc="-20" dirty="0">
                <a:latin typeface="Tahoma"/>
                <a:cs typeface="Tahoma"/>
              </a:rPr>
              <a:t>Entrevista</a:t>
            </a:r>
            <a:r>
              <a:rPr sz="1350" spc="-25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con</a:t>
            </a:r>
            <a:r>
              <a:rPr sz="1350" spc="-20" dirty="0">
                <a:latin typeface="Tahoma"/>
                <a:cs typeface="Tahoma"/>
              </a:rPr>
              <a:t> </a:t>
            </a:r>
            <a:r>
              <a:rPr sz="1350" spc="-10" dirty="0">
                <a:latin typeface="Tahoma"/>
                <a:cs typeface="Tahoma"/>
              </a:rPr>
              <a:t>padres </a:t>
            </a:r>
            <a:r>
              <a:rPr sz="1350" spc="-20" dirty="0">
                <a:latin typeface="Tahoma"/>
                <a:cs typeface="Tahoma"/>
              </a:rPr>
              <a:t>terapeutas</a:t>
            </a:r>
            <a:r>
              <a:rPr sz="1350" spc="-40" dirty="0">
                <a:latin typeface="Tahoma"/>
                <a:cs typeface="Tahoma"/>
              </a:rPr>
              <a:t> </a:t>
            </a:r>
            <a:r>
              <a:rPr sz="1350" spc="-170" dirty="0">
                <a:latin typeface="Tahoma"/>
                <a:cs typeface="Tahoma"/>
              </a:rPr>
              <a:t>,</a:t>
            </a:r>
            <a:r>
              <a:rPr sz="1350" spc="-70" dirty="0">
                <a:latin typeface="Tahoma"/>
                <a:cs typeface="Tahoma"/>
              </a:rPr>
              <a:t> </a:t>
            </a:r>
            <a:r>
              <a:rPr sz="1350" spc="-10" dirty="0">
                <a:latin typeface="Tahoma"/>
                <a:cs typeface="Tahoma"/>
              </a:rPr>
              <a:t>observación </a:t>
            </a:r>
            <a:r>
              <a:rPr sz="1350" dirty="0">
                <a:latin typeface="Tahoma"/>
                <a:cs typeface="Tahoma"/>
              </a:rPr>
              <a:t>de</a:t>
            </a:r>
            <a:r>
              <a:rPr sz="1350" spc="-80" dirty="0">
                <a:latin typeface="Tahoma"/>
                <a:cs typeface="Tahoma"/>
              </a:rPr>
              <a:t> </a:t>
            </a:r>
            <a:r>
              <a:rPr sz="1350" spc="-10" dirty="0">
                <a:latin typeface="Tahoma"/>
                <a:cs typeface="Tahoma"/>
              </a:rPr>
              <a:t>estímulos</a:t>
            </a:r>
            <a:r>
              <a:rPr sz="1350" spc="-40" dirty="0">
                <a:latin typeface="Tahoma"/>
                <a:cs typeface="Tahoma"/>
              </a:rPr>
              <a:t> </a:t>
            </a:r>
            <a:r>
              <a:rPr sz="1350" spc="-25" dirty="0">
                <a:latin typeface="Tahoma"/>
                <a:cs typeface="Tahoma"/>
              </a:rPr>
              <a:t>que </a:t>
            </a:r>
            <a:r>
              <a:rPr sz="1350" spc="-30" dirty="0">
                <a:latin typeface="Tahoma"/>
                <a:cs typeface="Tahoma"/>
              </a:rPr>
              <a:t>disparan(</a:t>
            </a:r>
            <a:r>
              <a:rPr sz="1350" spc="-85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ruido</a:t>
            </a:r>
            <a:r>
              <a:rPr sz="1350" spc="-20" dirty="0">
                <a:latin typeface="Tahoma"/>
                <a:cs typeface="Tahoma"/>
              </a:rPr>
              <a:t> </a:t>
            </a:r>
            <a:r>
              <a:rPr sz="1350" spc="-170" dirty="0">
                <a:latin typeface="Tahoma"/>
                <a:cs typeface="Tahoma"/>
              </a:rPr>
              <a:t>,</a:t>
            </a:r>
            <a:r>
              <a:rPr sz="1350" spc="-100" dirty="0">
                <a:latin typeface="Tahoma"/>
                <a:cs typeface="Tahoma"/>
              </a:rPr>
              <a:t> </a:t>
            </a:r>
            <a:r>
              <a:rPr sz="1350" spc="-30" dirty="0">
                <a:latin typeface="Tahoma"/>
                <a:cs typeface="Tahoma"/>
              </a:rPr>
              <a:t>luces)</a:t>
            </a:r>
            <a:r>
              <a:rPr sz="1350" spc="-85" dirty="0">
                <a:latin typeface="Tahoma"/>
                <a:cs typeface="Tahoma"/>
              </a:rPr>
              <a:t> </a:t>
            </a:r>
            <a:r>
              <a:rPr sz="1350" spc="-50" dirty="0">
                <a:latin typeface="Tahoma"/>
                <a:cs typeface="Tahoma"/>
              </a:rPr>
              <a:t>y </a:t>
            </a:r>
            <a:r>
              <a:rPr sz="1350" spc="-10" dirty="0">
                <a:latin typeface="Tahoma"/>
                <a:cs typeface="Tahoma"/>
              </a:rPr>
              <a:t>revisión</a:t>
            </a:r>
            <a:r>
              <a:rPr sz="1350" spc="-95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de</a:t>
            </a:r>
            <a:r>
              <a:rPr sz="1350" spc="-40" dirty="0">
                <a:latin typeface="Tahoma"/>
                <a:cs typeface="Tahoma"/>
              </a:rPr>
              <a:t> </a:t>
            </a:r>
            <a:r>
              <a:rPr sz="1350" dirty="0">
                <a:latin typeface="Tahoma"/>
                <a:cs typeface="Tahoma"/>
              </a:rPr>
              <a:t>métodos</a:t>
            </a:r>
            <a:r>
              <a:rPr sz="1350" spc="-70" dirty="0">
                <a:latin typeface="Tahoma"/>
                <a:cs typeface="Tahoma"/>
              </a:rPr>
              <a:t> </a:t>
            </a:r>
            <a:r>
              <a:rPr sz="1350" spc="-25" dirty="0">
                <a:latin typeface="Tahoma"/>
                <a:cs typeface="Tahoma"/>
              </a:rPr>
              <a:t>de </a:t>
            </a:r>
            <a:r>
              <a:rPr sz="1350" spc="-10" dirty="0">
                <a:latin typeface="Tahoma"/>
                <a:cs typeface="Tahoma"/>
              </a:rPr>
              <a:t>actuales</a:t>
            </a:r>
            <a:r>
              <a:rPr sz="1350" spc="-90" dirty="0">
                <a:latin typeface="Tahoma"/>
                <a:cs typeface="Tahoma"/>
              </a:rPr>
              <a:t> </a:t>
            </a:r>
            <a:r>
              <a:rPr sz="1350" spc="-50" dirty="0">
                <a:latin typeface="Tahoma"/>
                <a:cs typeface="Tahoma"/>
              </a:rPr>
              <a:t>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49617" y="1279334"/>
            <a:ext cx="2195195" cy="1444625"/>
            <a:chOff x="749617" y="1279334"/>
            <a:chExt cx="2195195" cy="1444625"/>
          </a:xfrm>
        </p:grpSpPr>
        <p:sp>
          <p:nvSpPr>
            <p:cNvPr id="51" name="object 51"/>
            <p:cNvSpPr/>
            <p:nvPr/>
          </p:nvSpPr>
          <p:spPr>
            <a:xfrm>
              <a:off x="754380" y="1284097"/>
              <a:ext cx="2185670" cy="1435100"/>
            </a:xfrm>
            <a:custGeom>
              <a:avLst/>
              <a:gdLst/>
              <a:ahLst/>
              <a:cxnLst/>
              <a:rect l="l" t="t" r="r" b="b"/>
              <a:pathLst>
                <a:path w="2185670" h="1435100">
                  <a:moveTo>
                    <a:pt x="2185416" y="0"/>
                  </a:moveTo>
                  <a:lnTo>
                    <a:pt x="0" y="0"/>
                  </a:lnTo>
                  <a:lnTo>
                    <a:pt x="0" y="1434973"/>
                  </a:lnTo>
                  <a:lnTo>
                    <a:pt x="2185416" y="1434973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8BE7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54380" y="1284097"/>
              <a:ext cx="2185670" cy="1435100"/>
            </a:xfrm>
            <a:custGeom>
              <a:avLst/>
              <a:gdLst/>
              <a:ahLst/>
              <a:cxnLst/>
              <a:rect l="l" t="t" r="r" b="b"/>
              <a:pathLst>
                <a:path w="2185670" h="1435100">
                  <a:moveTo>
                    <a:pt x="0" y="1434973"/>
                  </a:moveTo>
                  <a:lnTo>
                    <a:pt x="2185416" y="1434973"/>
                  </a:lnTo>
                  <a:lnTo>
                    <a:pt x="2185416" y="0"/>
                  </a:lnTo>
                  <a:lnTo>
                    <a:pt x="0" y="0"/>
                  </a:lnTo>
                  <a:lnTo>
                    <a:pt x="0" y="14349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1207871" y="1338072"/>
            <a:ext cx="1269365" cy="51371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54000" marR="5080" indent="-241935">
              <a:lnSpc>
                <a:spcPct val="104500"/>
              </a:lnSpc>
              <a:spcBef>
                <a:spcPts val="50"/>
              </a:spcBef>
            </a:pPr>
            <a:r>
              <a:rPr sz="1550" dirty="0">
                <a:latin typeface="Tahoma"/>
                <a:cs typeface="Tahoma"/>
              </a:rPr>
              <a:t>Una</a:t>
            </a:r>
            <a:r>
              <a:rPr sz="1550" spc="-95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aplicación diseñada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71118" y="1822386"/>
            <a:ext cx="1944370" cy="76136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-1905" algn="ctr">
              <a:lnSpc>
                <a:spcPct val="104600"/>
              </a:lnSpc>
              <a:spcBef>
                <a:spcPts val="50"/>
              </a:spcBef>
            </a:pPr>
            <a:r>
              <a:rPr sz="1550" dirty="0">
                <a:latin typeface="Tahoma"/>
                <a:cs typeface="Tahoma"/>
              </a:rPr>
              <a:t>específicamente</a:t>
            </a:r>
            <a:r>
              <a:rPr sz="1550" spc="-105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para </a:t>
            </a:r>
            <a:r>
              <a:rPr sz="1550" dirty="0">
                <a:latin typeface="Tahoma"/>
                <a:cs typeface="Tahoma"/>
              </a:rPr>
              <a:t>momentos</a:t>
            </a:r>
            <a:r>
              <a:rPr sz="1550" spc="-10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de</a:t>
            </a:r>
            <a:r>
              <a:rPr sz="1550" spc="-15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crisis</a:t>
            </a:r>
            <a:r>
              <a:rPr sz="1550" spc="-25" dirty="0">
                <a:latin typeface="Tahoma"/>
                <a:cs typeface="Tahoma"/>
              </a:rPr>
              <a:t> en </a:t>
            </a:r>
            <a:r>
              <a:rPr sz="1550" spc="-10" dirty="0">
                <a:latin typeface="Tahoma"/>
                <a:cs typeface="Tahoma"/>
              </a:rPr>
              <a:t>niños</a:t>
            </a:r>
            <a:r>
              <a:rPr sz="1550" spc="-85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con</a:t>
            </a:r>
            <a:r>
              <a:rPr sz="1550" spc="-50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TEA</a:t>
            </a:r>
            <a:endParaRPr sz="1550" dirty="0">
              <a:latin typeface="Tahoma"/>
              <a:cs typeface="Tahom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3738020" y="3580205"/>
            <a:ext cx="2186305" cy="1435735"/>
            <a:chOff x="3757993" y="3756215"/>
            <a:chExt cx="2186305" cy="1435735"/>
          </a:xfrm>
        </p:grpSpPr>
        <p:sp>
          <p:nvSpPr>
            <p:cNvPr id="56" name="object 56"/>
            <p:cNvSpPr/>
            <p:nvPr/>
          </p:nvSpPr>
          <p:spPr>
            <a:xfrm>
              <a:off x="3762755" y="3760977"/>
              <a:ext cx="2176780" cy="1426210"/>
            </a:xfrm>
            <a:custGeom>
              <a:avLst/>
              <a:gdLst/>
              <a:ahLst/>
              <a:cxnLst/>
              <a:rect l="l" t="t" r="r" b="b"/>
              <a:pathLst>
                <a:path w="2176779" h="1426210">
                  <a:moveTo>
                    <a:pt x="2176272" y="0"/>
                  </a:moveTo>
                  <a:lnTo>
                    <a:pt x="0" y="0"/>
                  </a:lnTo>
                  <a:lnTo>
                    <a:pt x="0" y="1425828"/>
                  </a:lnTo>
                  <a:lnTo>
                    <a:pt x="2176272" y="1425828"/>
                  </a:lnTo>
                  <a:lnTo>
                    <a:pt x="2176272" y="0"/>
                  </a:lnTo>
                  <a:close/>
                </a:path>
              </a:pathLst>
            </a:custGeom>
            <a:solidFill>
              <a:srgbClr val="F79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3762755" y="3760977"/>
              <a:ext cx="2176780" cy="1426210"/>
            </a:xfrm>
            <a:custGeom>
              <a:avLst/>
              <a:gdLst/>
              <a:ahLst/>
              <a:cxnLst/>
              <a:rect l="l" t="t" r="r" b="b"/>
              <a:pathLst>
                <a:path w="2176779" h="1426210">
                  <a:moveTo>
                    <a:pt x="0" y="1425828"/>
                  </a:moveTo>
                  <a:lnTo>
                    <a:pt x="2176272" y="1425828"/>
                  </a:lnTo>
                  <a:lnTo>
                    <a:pt x="2176272" y="0"/>
                  </a:lnTo>
                  <a:lnTo>
                    <a:pt x="0" y="0"/>
                  </a:lnTo>
                  <a:lnTo>
                    <a:pt x="0" y="14258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861828" y="3825506"/>
            <a:ext cx="1925320" cy="9994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ctr">
              <a:lnSpc>
                <a:spcPct val="103299"/>
              </a:lnSpc>
              <a:spcBef>
                <a:spcPts val="75"/>
              </a:spcBef>
            </a:pPr>
            <a:r>
              <a:rPr sz="1550" dirty="0">
                <a:latin typeface="Tahoma"/>
                <a:cs typeface="Tahoma"/>
              </a:rPr>
              <a:t>Principalmente</a:t>
            </a:r>
            <a:r>
              <a:rPr sz="1550" spc="-105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al</a:t>
            </a:r>
            <a:r>
              <a:rPr sz="1550" spc="-110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niño </a:t>
            </a:r>
            <a:r>
              <a:rPr sz="1550" dirty="0">
                <a:latin typeface="Tahoma"/>
                <a:cs typeface="Tahoma"/>
              </a:rPr>
              <a:t>con</a:t>
            </a:r>
            <a:r>
              <a:rPr sz="1550" spc="-114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Tea</a:t>
            </a:r>
            <a:r>
              <a:rPr sz="1550" spc="-11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y</a:t>
            </a:r>
            <a:r>
              <a:rPr sz="1550" spc="-80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sus </a:t>
            </a:r>
            <a:r>
              <a:rPr sz="1550" spc="-10" dirty="0">
                <a:latin typeface="Tahoma"/>
                <a:cs typeface="Tahoma"/>
              </a:rPr>
              <a:t>cuidadores</a:t>
            </a:r>
            <a:r>
              <a:rPr sz="1550" spc="-30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principales </a:t>
            </a:r>
            <a:r>
              <a:rPr sz="1550" spc="-155" dirty="0">
                <a:latin typeface="Tahoma"/>
                <a:cs typeface="Tahoma"/>
              </a:rPr>
              <a:t>(</a:t>
            </a:r>
            <a:r>
              <a:rPr sz="1550" spc="-120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padres</a:t>
            </a:r>
            <a:r>
              <a:rPr sz="1550" spc="-195" dirty="0">
                <a:latin typeface="Tahoma"/>
                <a:cs typeface="Tahoma"/>
              </a:rPr>
              <a:t>,</a:t>
            </a:r>
            <a:r>
              <a:rPr sz="1550" spc="-35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maestros)</a:t>
            </a:r>
            <a:endParaRPr sz="1550" dirty="0">
              <a:latin typeface="Tahoma"/>
              <a:cs typeface="Tahom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3597731" y="1748212"/>
            <a:ext cx="2195195" cy="1444625"/>
            <a:chOff x="3401377" y="1772856"/>
            <a:chExt cx="2195195" cy="1444625"/>
          </a:xfrm>
        </p:grpSpPr>
        <p:sp>
          <p:nvSpPr>
            <p:cNvPr id="60" name="object 60"/>
            <p:cNvSpPr/>
            <p:nvPr/>
          </p:nvSpPr>
          <p:spPr>
            <a:xfrm>
              <a:off x="3406140" y="1777619"/>
              <a:ext cx="2185670" cy="1435100"/>
            </a:xfrm>
            <a:custGeom>
              <a:avLst/>
              <a:gdLst/>
              <a:ahLst/>
              <a:cxnLst/>
              <a:rect l="l" t="t" r="r" b="b"/>
              <a:pathLst>
                <a:path w="2185670" h="1435100">
                  <a:moveTo>
                    <a:pt x="2185416" y="0"/>
                  </a:moveTo>
                  <a:lnTo>
                    <a:pt x="0" y="0"/>
                  </a:lnTo>
                  <a:lnTo>
                    <a:pt x="0" y="1434973"/>
                  </a:lnTo>
                  <a:lnTo>
                    <a:pt x="2185416" y="1434973"/>
                  </a:lnTo>
                  <a:lnTo>
                    <a:pt x="2185416" y="0"/>
                  </a:lnTo>
                  <a:close/>
                </a:path>
              </a:pathLst>
            </a:custGeom>
            <a:solidFill>
              <a:srgbClr val="F79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406140" y="1777619"/>
              <a:ext cx="2185670" cy="1435100"/>
            </a:xfrm>
            <a:custGeom>
              <a:avLst/>
              <a:gdLst/>
              <a:ahLst/>
              <a:cxnLst/>
              <a:rect l="l" t="t" r="r" b="b"/>
              <a:pathLst>
                <a:path w="2185670" h="1435100">
                  <a:moveTo>
                    <a:pt x="0" y="1434973"/>
                  </a:moveTo>
                  <a:lnTo>
                    <a:pt x="2185416" y="1434973"/>
                  </a:lnTo>
                  <a:lnTo>
                    <a:pt x="2185416" y="0"/>
                  </a:lnTo>
                  <a:lnTo>
                    <a:pt x="0" y="0"/>
                  </a:lnTo>
                  <a:lnTo>
                    <a:pt x="0" y="14349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675888" y="1802002"/>
            <a:ext cx="1953895" cy="1310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latin typeface="Tahoma"/>
                <a:cs typeface="Tahoma"/>
              </a:rPr>
              <a:t>Los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padres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sienten </a:t>
            </a:r>
            <a:r>
              <a:rPr sz="1200" spc="-35" dirty="0">
                <a:latin typeface="Tahoma"/>
                <a:cs typeface="Tahoma"/>
              </a:rPr>
              <a:t>abrumados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04" dirty="0">
                <a:latin typeface="Tahoma"/>
                <a:cs typeface="Tahoma"/>
              </a:rPr>
              <a:t>;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el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niño</a:t>
            </a:r>
            <a:r>
              <a:rPr sz="1200" spc="-1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no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puede comunicar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que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molesta </a:t>
            </a:r>
            <a:r>
              <a:rPr sz="1200" spc="-30" dirty="0">
                <a:latin typeface="Tahoma"/>
                <a:cs typeface="Tahoma"/>
              </a:rPr>
              <a:t>durante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crisis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04" dirty="0">
                <a:latin typeface="Tahoma"/>
                <a:cs typeface="Tahoma"/>
              </a:rPr>
              <a:t>;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las </a:t>
            </a:r>
            <a:r>
              <a:rPr sz="1200" spc="-30" dirty="0">
                <a:latin typeface="Tahoma"/>
                <a:cs typeface="Tahoma"/>
              </a:rPr>
              <a:t>aplicaciones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actuales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son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muy </a:t>
            </a:r>
            <a:r>
              <a:rPr sz="1200" spc="-30" dirty="0">
                <a:latin typeface="Tahoma"/>
                <a:cs typeface="Tahoma"/>
              </a:rPr>
              <a:t>comlejas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actuales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tiene </a:t>
            </a:r>
            <a:r>
              <a:rPr sz="1200" spc="-35" dirty="0">
                <a:latin typeface="Tahoma"/>
                <a:cs typeface="Tahoma"/>
              </a:rPr>
              <a:t>demasiados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estímulos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.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606540" y="1256664"/>
            <a:ext cx="2185670" cy="1812676"/>
          </a:xfrm>
          <a:prstGeom prst="rect">
            <a:avLst/>
          </a:prstGeom>
          <a:solidFill>
            <a:srgbClr val="EBF06E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445"/>
              </a:lnSpc>
            </a:pPr>
            <a:endParaRPr lang="es-MX" sz="1550" spc="-10" dirty="0">
              <a:latin typeface="Tahoma"/>
              <a:cs typeface="Tahoma"/>
            </a:endParaRPr>
          </a:p>
          <a:p>
            <a:pPr algn="ctr">
              <a:lnSpc>
                <a:spcPts val="1445"/>
              </a:lnSpc>
            </a:pPr>
            <a:r>
              <a:rPr sz="1550" spc="-10" dirty="0">
                <a:latin typeface="Tahoma"/>
                <a:cs typeface="Tahoma"/>
              </a:rPr>
              <a:t>La</a:t>
            </a:r>
            <a:r>
              <a:rPr sz="1550" spc="-11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falta</a:t>
            </a:r>
            <a:r>
              <a:rPr sz="1550" spc="-11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de</a:t>
            </a:r>
            <a:r>
              <a:rPr sz="1550" spc="-60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un</a:t>
            </a:r>
            <a:r>
              <a:rPr sz="1550" spc="-110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canal</a:t>
            </a:r>
            <a:r>
              <a:rPr sz="1550" spc="-135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de</a:t>
            </a:r>
            <a:endParaRPr sz="1550" dirty="0">
              <a:latin typeface="Tahoma"/>
              <a:cs typeface="Tahoma"/>
            </a:endParaRPr>
          </a:p>
          <a:p>
            <a:pPr marL="130175" marR="124460" algn="ctr">
              <a:lnSpc>
                <a:spcPct val="102600"/>
              </a:lnSpc>
              <a:spcBef>
                <a:spcPts val="35"/>
              </a:spcBef>
            </a:pPr>
            <a:r>
              <a:rPr sz="1550" dirty="0" err="1">
                <a:latin typeface="Tahoma"/>
                <a:cs typeface="Tahoma"/>
              </a:rPr>
              <a:t>comunicación</a:t>
            </a:r>
            <a:r>
              <a:rPr sz="1550" spc="-60" dirty="0">
                <a:latin typeface="Tahoma"/>
                <a:cs typeface="Tahoma"/>
              </a:rPr>
              <a:t> </a:t>
            </a:r>
            <a:r>
              <a:rPr sz="1550" spc="-10" dirty="0" err="1">
                <a:latin typeface="Tahoma"/>
                <a:cs typeface="Tahoma"/>
              </a:rPr>
              <a:t>rápido</a:t>
            </a:r>
            <a:r>
              <a:rPr sz="1550" spc="-70" dirty="0">
                <a:latin typeface="Tahoma"/>
                <a:cs typeface="Tahoma"/>
              </a:rPr>
              <a:t> </a:t>
            </a:r>
            <a:r>
              <a:rPr sz="1550" spc="-50" dirty="0">
                <a:latin typeface="Tahoma"/>
                <a:cs typeface="Tahoma"/>
              </a:rPr>
              <a:t>y </a:t>
            </a:r>
            <a:r>
              <a:rPr sz="1550" spc="-10" dirty="0">
                <a:latin typeface="Tahoma"/>
                <a:cs typeface="Tahoma"/>
              </a:rPr>
              <a:t>sensorialmente amigable</a:t>
            </a:r>
            <a:r>
              <a:rPr sz="1550" spc="-90" dirty="0">
                <a:latin typeface="Tahoma"/>
                <a:cs typeface="Tahoma"/>
              </a:rPr>
              <a:t> </a:t>
            </a:r>
            <a:r>
              <a:rPr sz="1550" spc="-40" dirty="0">
                <a:latin typeface="Tahoma"/>
                <a:cs typeface="Tahoma"/>
              </a:rPr>
              <a:t>para</a:t>
            </a:r>
            <a:r>
              <a:rPr sz="1550" spc="-75" dirty="0">
                <a:latin typeface="Tahoma"/>
                <a:cs typeface="Tahoma"/>
              </a:rPr>
              <a:t> </a:t>
            </a:r>
            <a:r>
              <a:rPr sz="1550" spc="-10" dirty="0">
                <a:latin typeface="Tahoma"/>
                <a:cs typeface="Tahoma"/>
              </a:rPr>
              <a:t>calmar al</a:t>
            </a:r>
            <a:r>
              <a:rPr sz="1550" spc="-130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niño</a:t>
            </a:r>
            <a:r>
              <a:rPr sz="1550" spc="-114" dirty="0">
                <a:latin typeface="Tahoma"/>
                <a:cs typeface="Tahoma"/>
              </a:rPr>
              <a:t> </a:t>
            </a:r>
            <a:r>
              <a:rPr sz="1550" dirty="0">
                <a:latin typeface="Tahoma"/>
                <a:cs typeface="Tahoma"/>
              </a:rPr>
              <a:t>y</a:t>
            </a:r>
            <a:r>
              <a:rPr sz="1550" spc="-75" dirty="0">
                <a:latin typeface="Tahoma"/>
                <a:cs typeface="Tahoma"/>
              </a:rPr>
              <a:t> </a:t>
            </a:r>
            <a:r>
              <a:rPr sz="1550" spc="-20" dirty="0">
                <a:latin typeface="Tahoma"/>
                <a:cs typeface="Tahoma"/>
              </a:rPr>
              <a:t>guiar</a:t>
            </a:r>
            <a:r>
              <a:rPr sz="1550" spc="-145" dirty="0">
                <a:latin typeface="Tahoma"/>
                <a:cs typeface="Tahoma"/>
              </a:rPr>
              <a:t> </a:t>
            </a:r>
            <a:r>
              <a:rPr sz="1550" spc="-25" dirty="0">
                <a:latin typeface="Tahoma"/>
                <a:cs typeface="Tahoma"/>
              </a:rPr>
              <a:t>al </a:t>
            </a:r>
            <a:r>
              <a:rPr sz="1550" spc="-10" dirty="0" err="1">
                <a:latin typeface="Tahoma"/>
                <a:cs typeface="Tahoma"/>
              </a:rPr>
              <a:t>adulto</a:t>
            </a:r>
            <a:r>
              <a:rPr sz="1550" spc="-10" dirty="0">
                <a:latin typeface="Tahoma"/>
                <a:cs typeface="Tahoma"/>
              </a:rPr>
              <a:t>.</a:t>
            </a:r>
            <a:endParaRPr lang="es-MX" sz="1550" spc="-10" dirty="0">
              <a:latin typeface="Tahoma"/>
              <a:cs typeface="Tahoma"/>
            </a:endParaRPr>
          </a:p>
          <a:p>
            <a:pPr marL="130175" marR="124460" algn="ctr">
              <a:lnSpc>
                <a:spcPct val="102600"/>
              </a:lnSpc>
              <a:spcBef>
                <a:spcPts val="35"/>
              </a:spcBef>
            </a:pPr>
            <a:endParaRPr sz="1550" dirty="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9358883" y="3294760"/>
            <a:ext cx="2185670" cy="1426210"/>
          </a:xfrm>
          <a:custGeom>
            <a:avLst/>
            <a:gdLst/>
            <a:ahLst/>
            <a:cxnLst/>
            <a:rect l="l" t="t" r="r" b="b"/>
            <a:pathLst>
              <a:path w="2185670" h="1426210">
                <a:moveTo>
                  <a:pt x="2185416" y="0"/>
                </a:moveTo>
                <a:lnTo>
                  <a:pt x="0" y="0"/>
                </a:lnTo>
                <a:lnTo>
                  <a:pt x="0" y="1425828"/>
                </a:lnTo>
                <a:lnTo>
                  <a:pt x="2185416" y="1425828"/>
                </a:lnTo>
                <a:lnTo>
                  <a:pt x="2185416" y="0"/>
                </a:lnTo>
                <a:close/>
              </a:path>
            </a:pathLst>
          </a:custGeom>
          <a:solidFill>
            <a:srgbClr val="C0A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9358883" y="3294760"/>
            <a:ext cx="2185670" cy="142621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0"/>
              </a:spcBef>
            </a:pPr>
            <a:endParaRPr sz="850">
              <a:latin typeface="Times New Roman"/>
              <a:cs typeface="Times New Roman"/>
            </a:endParaRPr>
          </a:p>
          <a:p>
            <a:pPr marL="151130" marR="153670" indent="1905" algn="ctr">
              <a:lnSpc>
                <a:spcPct val="105900"/>
              </a:lnSpc>
            </a:pPr>
            <a:r>
              <a:rPr sz="850" dirty="0">
                <a:latin typeface="Tahoma"/>
                <a:cs typeface="Tahoma"/>
              </a:rPr>
              <a:t>Menos</a:t>
            </a:r>
            <a:r>
              <a:rPr sz="850" spc="25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es</a:t>
            </a:r>
            <a:r>
              <a:rPr sz="850" spc="-50" dirty="0">
                <a:latin typeface="Tahoma"/>
                <a:cs typeface="Tahoma"/>
              </a:rPr>
              <a:t> </a:t>
            </a:r>
            <a:r>
              <a:rPr sz="850" spc="-25" dirty="0">
                <a:latin typeface="Tahoma"/>
                <a:cs typeface="Tahoma"/>
              </a:rPr>
              <a:t>más.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Evita</a:t>
            </a:r>
            <a:r>
              <a:rPr sz="850" spc="-4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cualquier</a:t>
            </a:r>
            <a:r>
              <a:rPr sz="850" spc="-4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estímulo </a:t>
            </a:r>
            <a:r>
              <a:rPr sz="850" dirty="0">
                <a:latin typeface="Tahoma"/>
                <a:cs typeface="Tahoma"/>
              </a:rPr>
              <a:t>que</a:t>
            </a:r>
            <a:r>
              <a:rPr sz="850" spc="-2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pueda</a:t>
            </a:r>
            <a:r>
              <a:rPr sz="850" spc="-2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ser</a:t>
            </a:r>
            <a:r>
              <a:rPr sz="850" spc="-25" dirty="0">
                <a:latin typeface="Tahoma"/>
                <a:cs typeface="Tahoma"/>
              </a:rPr>
              <a:t> agresivo:</a:t>
            </a:r>
            <a:r>
              <a:rPr sz="850" spc="-3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colores</a:t>
            </a:r>
            <a:r>
              <a:rPr sz="850" spc="-2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suaves, </a:t>
            </a:r>
            <a:r>
              <a:rPr sz="850" dirty="0">
                <a:latin typeface="Tahoma"/>
                <a:cs typeface="Tahoma"/>
              </a:rPr>
              <a:t>sonidos</a:t>
            </a:r>
            <a:r>
              <a:rPr sz="850" spc="-5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de</a:t>
            </a:r>
            <a:r>
              <a:rPr sz="850" spc="-5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volumen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bajo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y</a:t>
            </a:r>
            <a:r>
              <a:rPr sz="850" spc="-20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transiciones fluidas.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spc="-30" dirty="0">
                <a:latin typeface="Tahoma"/>
                <a:cs typeface="Tahoma"/>
              </a:rPr>
              <a:t>Si</a:t>
            </a:r>
            <a:r>
              <a:rPr sz="850" spc="-10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es</a:t>
            </a:r>
            <a:r>
              <a:rPr sz="850" spc="-4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un</a:t>
            </a:r>
            <a:r>
              <a:rPr sz="850" spc="-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objeto</a:t>
            </a:r>
            <a:r>
              <a:rPr sz="850" spc="-5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físico,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busca</a:t>
            </a:r>
            <a:endParaRPr sz="850">
              <a:latin typeface="Tahoma"/>
              <a:cs typeface="Tahoma"/>
            </a:endParaRPr>
          </a:p>
          <a:p>
            <a:pPr marL="127000" marR="125095" indent="-1905" algn="ctr">
              <a:lnSpc>
                <a:spcPct val="105200"/>
              </a:lnSpc>
              <a:spcBef>
                <a:spcPts val="10"/>
              </a:spcBef>
            </a:pPr>
            <a:r>
              <a:rPr sz="850" dirty="0">
                <a:latin typeface="Tahoma"/>
                <a:cs typeface="Tahoma"/>
              </a:rPr>
              <a:t>texturas</a:t>
            </a:r>
            <a:r>
              <a:rPr sz="850" spc="-70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amigables;</a:t>
            </a:r>
            <a:r>
              <a:rPr sz="850" spc="-3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si</a:t>
            </a:r>
            <a:r>
              <a:rPr sz="850" spc="-35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es</a:t>
            </a:r>
            <a:r>
              <a:rPr sz="850" spc="-55" dirty="0">
                <a:latin typeface="Tahoma"/>
                <a:cs typeface="Tahoma"/>
              </a:rPr>
              <a:t> </a:t>
            </a:r>
            <a:r>
              <a:rPr sz="850" spc="-10" dirty="0">
                <a:latin typeface="Tahoma"/>
                <a:cs typeface="Tahoma"/>
              </a:rPr>
              <a:t>digital,</a:t>
            </a:r>
            <a:r>
              <a:rPr sz="850" spc="-70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evita </a:t>
            </a:r>
            <a:r>
              <a:rPr sz="850" dirty="0">
                <a:latin typeface="Tahoma"/>
                <a:cs typeface="Tahoma"/>
              </a:rPr>
              <a:t>luces</a:t>
            </a:r>
            <a:r>
              <a:rPr sz="850" spc="-35" dirty="0">
                <a:latin typeface="Tahoma"/>
                <a:cs typeface="Tahoma"/>
              </a:rPr>
              <a:t> </a:t>
            </a:r>
            <a:r>
              <a:rPr sz="850" spc="-20" dirty="0">
                <a:latin typeface="Tahoma"/>
                <a:cs typeface="Tahoma"/>
              </a:rPr>
              <a:t>parpadeantes.</a:t>
            </a:r>
            <a:r>
              <a:rPr sz="850" spc="-4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El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objetivo</a:t>
            </a:r>
            <a:r>
              <a:rPr sz="850" spc="-7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es</a:t>
            </a:r>
            <a:r>
              <a:rPr sz="850" spc="-3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que</a:t>
            </a:r>
            <a:r>
              <a:rPr sz="850" spc="45" dirty="0">
                <a:latin typeface="Tahoma"/>
                <a:cs typeface="Tahoma"/>
              </a:rPr>
              <a:t> </a:t>
            </a:r>
            <a:r>
              <a:rPr sz="850" spc="-25" dirty="0">
                <a:latin typeface="Tahoma"/>
                <a:cs typeface="Tahoma"/>
              </a:rPr>
              <a:t>el </a:t>
            </a:r>
            <a:r>
              <a:rPr sz="850" dirty="0">
                <a:latin typeface="Tahoma"/>
                <a:cs typeface="Tahoma"/>
              </a:rPr>
              <a:t>entorno</a:t>
            </a:r>
            <a:r>
              <a:rPr sz="850" spc="-5" dirty="0">
                <a:latin typeface="Tahoma"/>
                <a:cs typeface="Tahoma"/>
              </a:rPr>
              <a:t> </a:t>
            </a:r>
            <a:r>
              <a:rPr sz="850" spc="-25" dirty="0">
                <a:latin typeface="Tahoma"/>
                <a:cs typeface="Tahoma"/>
              </a:rPr>
              <a:t>sea</a:t>
            </a:r>
            <a:r>
              <a:rPr sz="850" spc="-40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seguro y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50" dirty="0">
                <a:latin typeface="Tahoma"/>
                <a:cs typeface="Tahoma"/>
              </a:rPr>
              <a:t>no</a:t>
            </a:r>
            <a:r>
              <a:rPr sz="850" spc="-1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abrume</a:t>
            </a:r>
            <a:r>
              <a:rPr sz="800" spc="-6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sus </a:t>
            </a:r>
            <a:r>
              <a:rPr sz="800" spc="-10" dirty="0">
                <a:latin typeface="Tahoma"/>
                <a:cs typeface="Tahoma"/>
              </a:rPr>
              <a:t>sentidos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221723" y="1475994"/>
            <a:ext cx="2176780" cy="1435100"/>
          </a:xfrm>
          <a:prstGeom prst="rect">
            <a:avLst/>
          </a:prstGeom>
          <a:solidFill>
            <a:srgbClr val="C0ADF4"/>
          </a:solidFill>
          <a:ln w="9525">
            <a:solidFill>
              <a:srgbClr val="000000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82880" marR="175260" indent="1270" algn="ctr">
              <a:lnSpc>
                <a:spcPct val="101299"/>
              </a:lnSpc>
              <a:spcBef>
                <a:spcPts val="190"/>
              </a:spcBef>
            </a:pPr>
            <a:r>
              <a:rPr sz="800" spc="-40" dirty="0">
                <a:latin typeface="Tahoma"/>
                <a:cs typeface="Tahoma"/>
              </a:rPr>
              <a:t>Claro,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aquí</a:t>
            </a:r>
            <a:r>
              <a:rPr sz="800" spc="-35" dirty="0">
                <a:latin typeface="Tahoma"/>
                <a:cs typeface="Tahoma"/>
              </a:rPr>
              <a:t> tienes</a:t>
            </a:r>
            <a:r>
              <a:rPr sz="800" spc="-5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el</a:t>
            </a:r>
            <a:r>
              <a:rPr sz="800" spc="-5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resumen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del</a:t>
            </a:r>
            <a:r>
              <a:rPr sz="800" spc="-5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prototipo </a:t>
            </a:r>
            <a:r>
              <a:rPr sz="800" spc="-40" dirty="0">
                <a:latin typeface="Tahoma"/>
                <a:cs typeface="Tahoma"/>
              </a:rPr>
              <a:t>para</a:t>
            </a:r>
            <a:r>
              <a:rPr sz="800" spc="-5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niños</a:t>
            </a:r>
            <a:r>
              <a:rPr sz="800" spc="-6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</a:t>
            </a:r>
            <a:r>
              <a:rPr sz="800" spc="-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TEA</a:t>
            </a:r>
            <a:r>
              <a:rPr sz="800" spc="-8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dividido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55" dirty="0">
                <a:latin typeface="Tahoma"/>
                <a:cs typeface="Tahoma"/>
              </a:rPr>
              <a:t>en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tres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pilares </a:t>
            </a:r>
            <a:r>
              <a:rPr sz="800" spc="-55" dirty="0">
                <a:latin typeface="Tahoma"/>
                <a:cs typeface="Tahoma"/>
              </a:rPr>
              <a:t>esenciales:1.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Claridad</a:t>
            </a:r>
            <a:r>
              <a:rPr sz="800" spc="-6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Visual</a:t>
            </a:r>
            <a:r>
              <a:rPr sz="800" spc="-15" dirty="0">
                <a:latin typeface="Tahoma"/>
                <a:cs typeface="Tahoma"/>
              </a:rPr>
              <a:t> </a:t>
            </a:r>
            <a:r>
              <a:rPr sz="800" spc="-50" dirty="0">
                <a:latin typeface="Tahoma"/>
                <a:cs typeface="Tahoma"/>
              </a:rPr>
              <a:t>y</a:t>
            </a:r>
            <a:endParaRPr sz="800">
              <a:latin typeface="Tahoma"/>
              <a:cs typeface="Tahoma"/>
            </a:endParaRPr>
          </a:p>
          <a:p>
            <a:pPr marL="3175" algn="ctr">
              <a:lnSpc>
                <a:spcPts val="925"/>
              </a:lnSpc>
            </a:pPr>
            <a:r>
              <a:rPr sz="800" spc="-10" dirty="0">
                <a:latin typeface="Tahoma"/>
                <a:cs typeface="Tahoma"/>
              </a:rPr>
              <a:t>PredictibilidadEl</a:t>
            </a:r>
            <a:r>
              <a:rPr sz="800" spc="-3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prototipo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35" dirty="0">
                <a:latin typeface="Tahoma"/>
                <a:cs typeface="Tahoma"/>
              </a:rPr>
              <a:t>debe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funcionar</a:t>
            </a:r>
            <a:endParaRPr sz="800">
              <a:latin typeface="Tahoma"/>
              <a:cs typeface="Tahoma"/>
            </a:endParaRPr>
          </a:p>
          <a:p>
            <a:pPr marL="1270" algn="ctr">
              <a:lnSpc>
                <a:spcPts val="950"/>
              </a:lnSpc>
            </a:pPr>
            <a:r>
              <a:rPr sz="800" spc="-10" dirty="0">
                <a:latin typeface="Tahoma"/>
                <a:cs typeface="Tahoma"/>
              </a:rPr>
              <a:t>como</a:t>
            </a:r>
            <a:r>
              <a:rPr sz="800" spc="-9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un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30" dirty="0">
                <a:latin typeface="Tahoma"/>
                <a:cs typeface="Tahoma"/>
              </a:rPr>
              <a:t>mapa</a:t>
            </a:r>
            <a:r>
              <a:rPr sz="800" spc="-3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sin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35" dirty="0">
                <a:latin typeface="Tahoma"/>
                <a:cs typeface="Tahoma"/>
              </a:rPr>
              <a:t>sorpresas.</a:t>
            </a:r>
            <a:r>
              <a:rPr sz="800" spc="-8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Usa</a:t>
            </a:r>
            <a:endParaRPr sz="800">
              <a:latin typeface="Tahoma"/>
              <a:cs typeface="Tahoma"/>
            </a:endParaRPr>
          </a:p>
          <a:p>
            <a:pPr marL="140970" marR="132080" indent="-4445" algn="ctr">
              <a:lnSpc>
                <a:spcPct val="99100"/>
              </a:lnSpc>
              <a:spcBef>
                <a:spcPts val="55"/>
              </a:spcBef>
            </a:pPr>
            <a:r>
              <a:rPr sz="800" spc="-20" dirty="0">
                <a:latin typeface="Tahoma"/>
                <a:cs typeface="Tahoma"/>
              </a:rPr>
              <a:t>pictogramas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spc="-35" dirty="0">
                <a:latin typeface="Tahoma"/>
                <a:cs typeface="Tahoma"/>
              </a:rPr>
              <a:t>e</a:t>
            </a:r>
            <a:r>
              <a:rPr sz="800" spc="-4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imágenes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en</a:t>
            </a:r>
            <a:r>
              <a:rPr sz="800" spc="-7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lugar</a:t>
            </a:r>
            <a:r>
              <a:rPr sz="800" spc="-6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de</a:t>
            </a:r>
            <a:r>
              <a:rPr sz="800" spc="-4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mucho </a:t>
            </a:r>
            <a:r>
              <a:rPr sz="800" spc="-20" dirty="0">
                <a:latin typeface="Tahoma"/>
                <a:cs typeface="Tahoma"/>
              </a:rPr>
              <a:t>texto</a:t>
            </a:r>
            <a:r>
              <a:rPr sz="800" spc="10" dirty="0">
                <a:latin typeface="Tahoma"/>
                <a:cs typeface="Tahoma"/>
              </a:rPr>
              <a:t> </a:t>
            </a:r>
            <a:r>
              <a:rPr sz="800" spc="-35" dirty="0">
                <a:latin typeface="Tahoma"/>
                <a:cs typeface="Tahoma"/>
              </a:rPr>
              <a:t>y</a:t>
            </a:r>
            <a:r>
              <a:rPr sz="800" spc="-1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establece</a:t>
            </a:r>
            <a:r>
              <a:rPr sz="800" spc="-3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rutinas</a:t>
            </a:r>
            <a:r>
              <a:rPr sz="800" spc="-4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claras</a:t>
            </a:r>
            <a:r>
              <a:rPr sz="800" spc="-4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(inicio, </a:t>
            </a:r>
            <a:r>
              <a:rPr sz="800" spc="-20" dirty="0">
                <a:latin typeface="Tahoma"/>
                <a:cs typeface="Tahoma"/>
              </a:rPr>
              <a:t>desarrollo</a:t>
            </a:r>
            <a:r>
              <a:rPr sz="800" spc="-75" dirty="0">
                <a:latin typeface="Tahoma"/>
                <a:cs typeface="Tahoma"/>
              </a:rPr>
              <a:t> </a:t>
            </a:r>
            <a:r>
              <a:rPr sz="800" spc="-35" dirty="0">
                <a:latin typeface="Tahoma"/>
                <a:cs typeface="Tahoma"/>
              </a:rPr>
              <a:t>y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40" dirty="0">
                <a:latin typeface="Tahoma"/>
                <a:cs typeface="Tahoma"/>
              </a:rPr>
              <a:t>cierre).</a:t>
            </a:r>
            <a:r>
              <a:rPr sz="800" spc="20" dirty="0">
                <a:latin typeface="Tahoma"/>
                <a:cs typeface="Tahoma"/>
              </a:rPr>
              <a:t> </a:t>
            </a:r>
            <a:r>
              <a:rPr sz="800" spc="-35" dirty="0">
                <a:latin typeface="Tahoma"/>
                <a:cs typeface="Tahoma"/>
              </a:rPr>
              <a:t>Incluir</a:t>
            </a:r>
            <a:r>
              <a:rPr sz="800" spc="-4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temporizadores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spc="-50" dirty="0">
                <a:latin typeface="Tahoma"/>
                <a:cs typeface="Tahoma"/>
              </a:rPr>
              <a:t>o</a:t>
            </a:r>
            <a:r>
              <a:rPr sz="800" spc="-30" dirty="0">
                <a:latin typeface="Tahoma"/>
                <a:cs typeface="Tahoma"/>
              </a:rPr>
              <a:t> barras</a:t>
            </a:r>
            <a:r>
              <a:rPr sz="800" spc="-6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de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progreso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30" dirty="0">
                <a:latin typeface="Tahoma"/>
                <a:cs typeface="Tahoma"/>
              </a:rPr>
              <a:t>ayuda</a:t>
            </a:r>
            <a:r>
              <a:rPr sz="800" spc="-40" dirty="0">
                <a:latin typeface="Tahoma"/>
                <a:cs typeface="Tahoma"/>
              </a:rPr>
              <a:t> </a:t>
            </a:r>
            <a:r>
              <a:rPr sz="800" spc="-45" dirty="0">
                <a:latin typeface="Tahoma"/>
                <a:cs typeface="Tahoma"/>
              </a:rPr>
              <a:t>a</a:t>
            </a:r>
            <a:r>
              <a:rPr sz="800" spc="-40" dirty="0">
                <a:latin typeface="Tahoma"/>
                <a:cs typeface="Tahoma"/>
              </a:rPr>
              <a:t> </a:t>
            </a:r>
            <a:r>
              <a:rPr sz="800" spc="-30" dirty="0">
                <a:latin typeface="Tahoma"/>
                <a:cs typeface="Tahoma"/>
              </a:rPr>
              <a:t>que</a:t>
            </a:r>
            <a:r>
              <a:rPr sz="800" spc="-5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el</a:t>
            </a:r>
            <a:r>
              <a:rPr sz="800" spc="-5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niño</a:t>
            </a:r>
            <a:r>
              <a:rPr sz="800" spc="-9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sepa exactamente</a:t>
            </a:r>
            <a:r>
              <a:rPr sz="800" spc="-6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cuánto</a:t>
            </a:r>
            <a:r>
              <a:rPr sz="800" spc="-9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falta</a:t>
            </a:r>
            <a:r>
              <a:rPr sz="800" spc="-5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para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terminar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una </a:t>
            </a:r>
            <a:r>
              <a:rPr sz="800" spc="-30" dirty="0">
                <a:latin typeface="Tahoma"/>
                <a:cs typeface="Tahoma"/>
              </a:rPr>
              <a:t>actividad,</a:t>
            </a:r>
            <a:r>
              <a:rPr sz="800" spc="1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reduciendo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50" dirty="0">
                <a:latin typeface="Tahoma"/>
                <a:cs typeface="Tahoma"/>
              </a:rPr>
              <a:t>la</a:t>
            </a:r>
            <a:r>
              <a:rPr sz="800" spc="-10" dirty="0">
                <a:latin typeface="Tahoma"/>
                <a:cs typeface="Tahoma"/>
              </a:rPr>
              <a:t> ansiedad.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11098" y="328637"/>
            <a:ext cx="14631669" cy="9430385"/>
            <a:chOff x="411098" y="328637"/>
            <a:chExt cx="14631669" cy="9430385"/>
          </a:xfrm>
        </p:grpSpPr>
        <p:sp>
          <p:nvSpPr>
            <p:cNvPr id="68" name="object 68"/>
            <p:cNvSpPr/>
            <p:nvPr/>
          </p:nvSpPr>
          <p:spPr>
            <a:xfrm>
              <a:off x="6277356" y="1092199"/>
              <a:ext cx="0" cy="8667115"/>
            </a:xfrm>
            <a:custGeom>
              <a:avLst/>
              <a:gdLst/>
              <a:ahLst/>
              <a:cxnLst/>
              <a:rect l="l" t="t" r="r" b="b"/>
              <a:pathLst>
                <a:path h="8667115">
                  <a:moveTo>
                    <a:pt x="0" y="0"/>
                  </a:moveTo>
                  <a:lnTo>
                    <a:pt x="0" y="8666530"/>
                  </a:lnTo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20623" y="338162"/>
              <a:ext cx="14612619" cy="731520"/>
            </a:xfrm>
            <a:custGeom>
              <a:avLst/>
              <a:gdLst/>
              <a:ahLst/>
              <a:cxnLst/>
              <a:rect l="l" t="t" r="r" b="b"/>
              <a:pathLst>
                <a:path w="14612619" h="731519">
                  <a:moveTo>
                    <a:pt x="14612112" y="0"/>
                  </a:moveTo>
                  <a:lnTo>
                    <a:pt x="0" y="0"/>
                  </a:lnTo>
                  <a:lnTo>
                    <a:pt x="0" y="731177"/>
                  </a:lnTo>
                  <a:lnTo>
                    <a:pt x="14612112" y="731177"/>
                  </a:lnTo>
                  <a:lnTo>
                    <a:pt x="14612112" y="0"/>
                  </a:lnTo>
                  <a:close/>
                </a:path>
              </a:pathLst>
            </a:custGeom>
            <a:solidFill>
              <a:srgbClr val="5F89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20623" y="338162"/>
              <a:ext cx="14612619" cy="731520"/>
            </a:xfrm>
            <a:custGeom>
              <a:avLst/>
              <a:gdLst/>
              <a:ahLst/>
              <a:cxnLst/>
              <a:rect l="l" t="t" r="r" b="b"/>
              <a:pathLst>
                <a:path w="14612619" h="731519">
                  <a:moveTo>
                    <a:pt x="0" y="731177"/>
                  </a:moveTo>
                  <a:lnTo>
                    <a:pt x="14612112" y="731177"/>
                  </a:lnTo>
                  <a:lnTo>
                    <a:pt x="14612112" y="0"/>
                  </a:lnTo>
                  <a:lnTo>
                    <a:pt x="0" y="0"/>
                  </a:lnTo>
                  <a:lnTo>
                    <a:pt x="0" y="731177"/>
                  </a:lnTo>
                  <a:close/>
                </a:path>
              </a:pathLst>
            </a:custGeom>
            <a:ln w="19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996924" y="7420090"/>
            <a:ext cx="1880235" cy="42608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584835" marR="5080" indent="-572770">
              <a:lnSpc>
                <a:spcPts val="1510"/>
              </a:lnSpc>
              <a:spcBef>
                <a:spcPts val="254"/>
              </a:spcBef>
            </a:pPr>
            <a:r>
              <a:rPr sz="1350" b="1" i="1" spc="-165" dirty="0">
                <a:latin typeface="Arial"/>
                <a:cs typeface="Arial"/>
              </a:rPr>
              <a:t>¿De</a:t>
            </a:r>
            <a:r>
              <a:rPr sz="1350" b="1" i="1" spc="-85" dirty="0">
                <a:latin typeface="Arial"/>
                <a:cs typeface="Arial"/>
              </a:rPr>
              <a:t> </a:t>
            </a:r>
            <a:r>
              <a:rPr sz="1350" b="1" i="1" spc="-114" dirty="0">
                <a:latin typeface="Arial"/>
                <a:cs typeface="Arial"/>
              </a:rPr>
              <a:t>qué</a:t>
            </a:r>
            <a:r>
              <a:rPr sz="1350" b="1" i="1" spc="-10" dirty="0">
                <a:latin typeface="Arial"/>
                <a:cs typeface="Arial"/>
              </a:rPr>
              <a:t> </a:t>
            </a:r>
            <a:r>
              <a:rPr sz="1350" b="1" i="1" spc="-185" dirty="0">
                <a:latin typeface="Arial"/>
                <a:cs typeface="Arial"/>
              </a:rPr>
              <a:t>se</a:t>
            </a:r>
            <a:r>
              <a:rPr sz="1350" b="1" i="1" spc="-5" dirty="0">
                <a:latin typeface="Arial"/>
                <a:cs typeface="Arial"/>
              </a:rPr>
              <a:t> </a:t>
            </a:r>
            <a:r>
              <a:rPr sz="1350" b="1" i="1" spc="-50" dirty="0">
                <a:latin typeface="Arial"/>
                <a:cs typeface="Arial"/>
              </a:rPr>
              <a:t>trata</a:t>
            </a:r>
            <a:r>
              <a:rPr sz="1350" b="1" i="1" spc="-70" dirty="0">
                <a:latin typeface="Arial"/>
                <a:cs typeface="Arial"/>
              </a:rPr>
              <a:t> </a:t>
            </a:r>
            <a:r>
              <a:rPr sz="1350" b="1" i="1" spc="-90" dirty="0">
                <a:latin typeface="Arial"/>
                <a:cs typeface="Arial"/>
              </a:rPr>
              <a:t>el</a:t>
            </a:r>
            <a:r>
              <a:rPr sz="1350" b="1" i="1" spc="-30" dirty="0">
                <a:latin typeface="Arial"/>
                <a:cs typeface="Arial"/>
              </a:rPr>
              <a:t> </a:t>
            </a:r>
            <a:r>
              <a:rPr sz="1350" b="1" i="1" spc="-75" dirty="0">
                <a:latin typeface="Arial"/>
                <a:cs typeface="Arial"/>
              </a:rPr>
              <a:t>ámbito </a:t>
            </a:r>
            <a:r>
              <a:rPr sz="1350" b="1" i="1" spc="-30" dirty="0">
                <a:latin typeface="Arial"/>
                <a:cs typeface="Arial"/>
              </a:rPr>
              <a:t>escogido?</a:t>
            </a:r>
            <a:endParaRPr sz="13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5934" y="8014116"/>
            <a:ext cx="2374265" cy="4267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1565"/>
              </a:lnSpc>
              <a:spcBef>
                <a:spcPts val="114"/>
              </a:spcBef>
            </a:pPr>
            <a:r>
              <a:rPr sz="1350" b="1" i="1" spc="-155" dirty="0">
                <a:latin typeface="Arial"/>
                <a:cs typeface="Arial"/>
              </a:rPr>
              <a:t>¿Qué</a:t>
            </a:r>
            <a:r>
              <a:rPr sz="1350" b="1" i="1" spc="-65" dirty="0">
                <a:latin typeface="Arial"/>
                <a:cs typeface="Arial"/>
              </a:rPr>
              <a:t> </a:t>
            </a:r>
            <a:r>
              <a:rPr sz="1350" b="1" i="1" spc="-105" dirty="0">
                <a:latin typeface="Arial"/>
                <a:cs typeface="Arial"/>
              </a:rPr>
              <a:t>actividades</a:t>
            </a:r>
            <a:r>
              <a:rPr sz="1350" b="1" i="1" spc="-15" dirty="0">
                <a:latin typeface="Arial"/>
                <a:cs typeface="Arial"/>
              </a:rPr>
              <a:t> </a:t>
            </a:r>
            <a:r>
              <a:rPr sz="1350" b="1" i="1" spc="-110" dirty="0">
                <a:latin typeface="Arial"/>
                <a:cs typeface="Arial"/>
              </a:rPr>
              <a:t>realizamos</a:t>
            </a:r>
            <a:r>
              <a:rPr sz="1350" b="1" i="1" spc="-25" dirty="0">
                <a:latin typeface="Arial"/>
                <a:cs typeface="Arial"/>
              </a:rPr>
              <a:t> </a:t>
            </a:r>
            <a:r>
              <a:rPr sz="1350" b="1" i="1" spc="-40" dirty="0">
                <a:latin typeface="Arial"/>
                <a:cs typeface="Arial"/>
              </a:rPr>
              <a:t>para</a:t>
            </a:r>
            <a:endParaRPr sz="1350">
              <a:latin typeface="Arial"/>
              <a:cs typeface="Arial"/>
            </a:endParaRPr>
          </a:p>
          <a:p>
            <a:pPr marL="6985" algn="ctr">
              <a:lnSpc>
                <a:spcPts val="1565"/>
              </a:lnSpc>
            </a:pPr>
            <a:r>
              <a:rPr sz="1350" b="1" i="1" spc="-100" dirty="0">
                <a:latin typeface="Arial"/>
                <a:cs typeface="Arial"/>
              </a:rPr>
              <a:t>investigar</a:t>
            </a:r>
            <a:r>
              <a:rPr sz="1350" b="1" i="1" spc="-55" dirty="0">
                <a:latin typeface="Arial"/>
                <a:cs typeface="Arial"/>
              </a:rPr>
              <a:t> </a:t>
            </a:r>
            <a:r>
              <a:rPr sz="1350" b="1" i="1" spc="-30" dirty="0">
                <a:latin typeface="Arial"/>
                <a:cs typeface="Arial"/>
              </a:rPr>
              <a:t>antecedentes?</a:t>
            </a:r>
            <a:endParaRPr sz="13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097826" y="8609077"/>
            <a:ext cx="167195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i="1" spc="-165" dirty="0">
                <a:latin typeface="Arial"/>
                <a:cs typeface="Arial"/>
              </a:rPr>
              <a:t>¿Por</a:t>
            </a:r>
            <a:r>
              <a:rPr sz="1350" b="1" i="1" spc="-20" dirty="0">
                <a:latin typeface="Arial"/>
                <a:cs typeface="Arial"/>
              </a:rPr>
              <a:t> </a:t>
            </a:r>
            <a:r>
              <a:rPr sz="1350" b="1" i="1" spc="-114" dirty="0">
                <a:latin typeface="Arial"/>
                <a:cs typeface="Arial"/>
              </a:rPr>
              <a:t>qué</a:t>
            </a:r>
            <a:r>
              <a:rPr sz="1350" b="1" i="1" spc="-75" dirty="0">
                <a:latin typeface="Arial"/>
                <a:cs typeface="Arial"/>
              </a:rPr>
              <a:t> </a:t>
            </a:r>
            <a:r>
              <a:rPr sz="1350" b="1" i="1" spc="-135" dirty="0">
                <a:latin typeface="Arial"/>
                <a:cs typeface="Arial"/>
              </a:rPr>
              <a:t>es</a:t>
            </a:r>
            <a:r>
              <a:rPr sz="1350" b="1" i="1" spc="-114" dirty="0">
                <a:latin typeface="Arial"/>
                <a:cs typeface="Arial"/>
              </a:rPr>
              <a:t> </a:t>
            </a:r>
            <a:r>
              <a:rPr sz="1350" b="1" i="1" spc="-65" dirty="0">
                <a:latin typeface="Arial"/>
                <a:cs typeface="Arial"/>
              </a:rPr>
              <a:t>importante</a:t>
            </a:r>
            <a:endParaRPr sz="13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439925" y="8800766"/>
            <a:ext cx="102933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i="1" spc="-80" dirty="0">
                <a:latin typeface="Arial"/>
                <a:cs typeface="Arial"/>
              </a:rPr>
              <a:t>trabajar </a:t>
            </a:r>
            <a:r>
              <a:rPr sz="1350" b="1" i="1" spc="-114" dirty="0">
                <a:latin typeface="Arial"/>
                <a:cs typeface="Arial"/>
              </a:rPr>
              <a:t>en</a:t>
            </a:r>
            <a:r>
              <a:rPr sz="1350" b="1" i="1" spc="35" dirty="0">
                <a:latin typeface="Arial"/>
                <a:cs typeface="Arial"/>
              </a:rPr>
              <a:t> </a:t>
            </a:r>
            <a:r>
              <a:rPr sz="1350" b="1" i="1" spc="-125" dirty="0">
                <a:latin typeface="Arial"/>
                <a:cs typeface="Arial"/>
              </a:rPr>
              <a:t>el?</a:t>
            </a:r>
            <a:endParaRPr sz="13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796284" y="8427119"/>
            <a:ext cx="2183130" cy="43560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1605"/>
              </a:lnSpc>
              <a:spcBef>
                <a:spcPts val="114"/>
              </a:spcBef>
            </a:pPr>
            <a:r>
              <a:rPr sz="1350" b="1" i="1" spc="-160" dirty="0">
                <a:latin typeface="Arial"/>
                <a:cs typeface="Arial"/>
              </a:rPr>
              <a:t>¿Cuáles</a:t>
            </a:r>
            <a:r>
              <a:rPr sz="1350" b="1" i="1" spc="-110" dirty="0">
                <a:latin typeface="Arial"/>
                <a:cs typeface="Arial"/>
              </a:rPr>
              <a:t> </a:t>
            </a:r>
            <a:r>
              <a:rPr sz="1350" b="1" i="1" spc="-135" dirty="0">
                <a:latin typeface="Arial"/>
                <a:cs typeface="Arial"/>
              </a:rPr>
              <a:t>son</a:t>
            </a:r>
            <a:r>
              <a:rPr sz="1350" b="1" i="1" spc="-60" dirty="0">
                <a:latin typeface="Arial"/>
                <a:cs typeface="Arial"/>
              </a:rPr>
              <a:t> </a:t>
            </a:r>
            <a:r>
              <a:rPr sz="1350" b="1" i="1" spc="-120" dirty="0">
                <a:latin typeface="Arial"/>
                <a:cs typeface="Arial"/>
              </a:rPr>
              <a:t>los</a:t>
            </a:r>
            <a:r>
              <a:rPr sz="1350" b="1" i="1" spc="-30" dirty="0">
                <a:latin typeface="Arial"/>
                <a:cs typeface="Arial"/>
              </a:rPr>
              <a:t> </a:t>
            </a:r>
            <a:r>
              <a:rPr sz="1350" b="1" i="1" spc="-114" dirty="0">
                <a:latin typeface="Arial"/>
                <a:cs typeface="Arial"/>
              </a:rPr>
              <a:t>problemas</a:t>
            </a:r>
            <a:r>
              <a:rPr sz="1350" b="1" i="1" spc="-25" dirty="0">
                <a:latin typeface="Arial"/>
                <a:cs typeface="Arial"/>
              </a:rPr>
              <a:t> que</a:t>
            </a:r>
            <a:endParaRPr sz="1350">
              <a:latin typeface="Arial"/>
              <a:cs typeface="Arial"/>
            </a:endParaRPr>
          </a:p>
          <a:p>
            <a:pPr marL="1270" algn="ctr">
              <a:lnSpc>
                <a:spcPts val="1605"/>
              </a:lnSpc>
            </a:pPr>
            <a:r>
              <a:rPr sz="1350" b="1" i="1" spc="-120" dirty="0">
                <a:latin typeface="Arial"/>
                <a:cs typeface="Arial"/>
              </a:rPr>
              <a:t>hemos</a:t>
            </a:r>
            <a:r>
              <a:rPr sz="1350" b="1" i="1" spc="-55" dirty="0">
                <a:latin typeface="Arial"/>
                <a:cs typeface="Arial"/>
              </a:rPr>
              <a:t> </a:t>
            </a:r>
            <a:r>
              <a:rPr sz="1350" b="1" i="1" spc="-30" dirty="0">
                <a:latin typeface="Arial"/>
                <a:cs typeface="Arial"/>
              </a:rPr>
              <a:t>identificado?</a:t>
            </a:r>
            <a:endParaRPr sz="13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4215638" y="9022132"/>
            <a:ext cx="1347470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i="1" spc="-210" dirty="0">
                <a:latin typeface="Arial"/>
                <a:cs typeface="Arial"/>
              </a:rPr>
              <a:t>¿A</a:t>
            </a:r>
            <a:r>
              <a:rPr sz="1350" b="1" i="1" spc="-120" dirty="0">
                <a:latin typeface="Arial"/>
                <a:cs typeface="Arial"/>
              </a:rPr>
              <a:t> </a:t>
            </a:r>
            <a:r>
              <a:rPr sz="1350" b="1" i="1" spc="-114" dirty="0">
                <a:latin typeface="Arial"/>
                <a:cs typeface="Arial"/>
              </a:rPr>
              <a:t>quienes</a:t>
            </a:r>
            <a:r>
              <a:rPr sz="1350" b="1" i="1" spc="-45" dirty="0">
                <a:latin typeface="Arial"/>
                <a:cs typeface="Arial"/>
              </a:rPr>
              <a:t> </a:t>
            </a:r>
            <a:r>
              <a:rPr sz="1350" b="1" i="1" spc="-85" dirty="0">
                <a:latin typeface="Arial"/>
                <a:cs typeface="Arial"/>
              </a:rPr>
              <a:t>afecta?</a:t>
            </a:r>
            <a:endParaRPr sz="13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937629" y="8468394"/>
            <a:ext cx="1469390" cy="43560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ts val="1605"/>
              </a:lnSpc>
              <a:spcBef>
                <a:spcPts val="114"/>
              </a:spcBef>
            </a:pPr>
            <a:r>
              <a:rPr sz="1350" b="1" i="1" spc="-165" dirty="0">
                <a:latin typeface="Arial"/>
                <a:cs typeface="Arial"/>
              </a:rPr>
              <a:t>¿Cuál</a:t>
            </a:r>
            <a:r>
              <a:rPr sz="1350" b="1" i="1" spc="-100" dirty="0">
                <a:latin typeface="Arial"/>
                <a:cs typeface="Arial"/>
              </a:rPr>
              <a:t> </a:t>
            </a:r>
            <a:r>
              <a:rPr sz="1350" b="1" i="1" spc="-125" dirty="0">
                <a:latin typeface="Arial"/>
                <a:cs typeface="Arial"/>
              </a:rPr>
              <a:t>es</a:t>
            </a:r>
            <a:r>
              <a:rPr sz="1350" b="1" i="1" spc="-114" dirty="0">
                <a:latin typeface="Arial"/>
                <a:cs typeface="Arial"/>
              </a:rPr>
              <a:t> </a:t>
            </a:r>
            <a:r>
              <a:rPr sz="1350" b="1" i="1" spc="-55" dirty="0">
                <a:latin typeface="Arial"/>
                <a:cs typeface="Arial"/>
              </a:rPr>
              <a:t>el</a:t>
            </a:r>
            <a:r>
              <a:rPr sz="1350" b="1" i="1" spc="-95" dirty="0">
                <a:latin typeface="Arial"/>
                <a:cs typeface="Arial"/>
              </a:rPr>
              <a:t> </a:t>
            </a:r>
            <a:r>
              <a:rPr sz="1350" b="1" i="1" spc="-80" dirty="0">
                <a:latin typeface="Arial"/>
                <a:cs typeface="Arial"/>
              </a:rPr>
              <a:t>problema</a:t>
            </a:r>
            <a:endParaRPr sz="1350">
              <a:latin typeface="Arial"/>
              <a:cs typeface="Arial"/>
            </a:endParaRPr>
          </a:p>
          <a:p>
            <a:pPr marL="6350" algn="ctr">
              <a:lnSpc>
                <a:spcPts val="1605"/>
              </a:lnSpc>
            </a:pPr>
            <a:r>
              <a:rPr sz="1350" b="1" i="1" spc="-155" dirty="0">
                <a:latin typeface="Arial"/>
                <a:cs typeface="Arial"/>
              </a:rPr>
              <a:t>más</a:t>
            </a:r>
            <a:r>
              <a:rPr sz="1350" b="1" i="1" spc="-35" dirty="0">
                <a:latin typeface="Arial"/>
                <a:cs typeface="Arial"/>
              </a:rPr>
              <a:t> </a:t>
            </a:r>
            <a:r>
              <a:rPr sz="1350" b="1" i="1" spc="-10" dirty="0">
                <a:latin typeface="Arial"/>
                <a:cs typeface="Arial"/>
              </a:rPr>
              <a:t>importante?</a:t>
            </a:r>
            <a:endParaRPr sz="13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064756" y="9063432"/>
            <a:ext cx="1219835" cy="2336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i="1" spc="-165" dirty="0">
                <a:latin typeface="Arial"/>
                <a:cs typeface="Arial"/>
              </a:rPr>
              <a:t>¿Por</a:t>
            </a:r>
            <a:r>
              <a:rPr sz="1350" b="1" i="1" spc="-20" dirty="0">
                <a:latin typeface="Arial"/>
                <a:cs typeface="Arial"/>
              </a:rPr>
              <a:t> </a:t>
            </a:r>
            <a:r>
              <a:rPr sz="1350" b="1" i="1" spc="-114" dirty="0">
                <a:latin typeface="Arial"/>
                <a:cs typeface="Arial"/>
              </a:rPr>
              <a:t>qué</a:t>
            </a:r>
            <a:r>
              <a:rPr sz="1350" b="1" i="1" spc="-75" dirty="0">
                <a:latin typeface="Arial"/>
                <a:cs typeface="Arial"/>
              </a:rPr>
              <a:t> </a:t>
            </a:r>
            <a:r>
              <a:rPr sz="1350" b="1" i="1" spc="-105" dirty="0">
                <a:latin typeface="Arial"/>
                <a:cs typeface="Arial"/>
              </a:rPr>
              <a:t>ocurre?</a:t>
            </a:r>
            <a:endParaRPr sz="13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249536" y="8602447"/>
            <a:ext cx="2292350" cy="434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985" algn="ctr">
              <a:lnSpc>
                <a:spcPts val="1600"/>
              </a:lnSpc>
              <a:spcBef>
                <a:spcPts val="114"/>
              </a:spcBef>
            </a:pPr>
            <a:r>
              <a:rPr sz="1350" b="1" i="1" spc="-155" dirty="0">
                <a:latin typeface="Arial"/>
                <a:cs typeface="Arial"/>
              </a:rPr>
              <a:t>¿Qué</a:t>
            </a:r>
            <a:r>
              <a:rPr sz="1350" b="1" i="1" spc="-80" dirty="0">
                <a:latin typeface="Arial"/>
                <a:cs typeface="Arial"/>
              </a:rPr>
              <a:t> </a:t>
            </a:r>
            <a:r>
              <a:rPr sz="1350" b="1" i="1" spc="-95" dirty="0">
                <a:latin typeface="Arial"/>
                <a:cs typeface="Arial"/>
              </a:rPr>
              <a:t>TIPO</a:t>
            </a:r>
            <a:r>
              <a:rPr sz="1350" b="1" i="1" spc="5" dirty="0">
                <a:latin typeface="Arial"/>
                <a:cs typeface="Arial"/>
              </a:rPr>
              <a:t> </a:t>
            </a:r>
            <a:r>
              <a:rPr sz="1350" b="1" i="1" spc="-110" dirty="0">
                <a:latin typeface="Arial"/>
                <a:cs typeface="Arial"/>
              </a:rPr>
              <a:t>de</a:t>
            </a:r>
            <a:r>
              <a:rPr sz="1350" b="1" i="1" spc="-85" dirty="0">
                <a:latin typeface="Arial"/>
                <a:cs typeface="Arial"/>
              </a:rPr>
              <a:t> </a:t>
            </a:r>
            <a:r>
              <a:rPr sz="1350" b="1" i="1" spc="-10" dirty="0">
                <a:latin typeface="Arial"/>
                <a:cs typeface="Arial"/>
              </a:rPr>
              <a:t>INNOVACIÓN</a:t>
            </a:r>
            <a:endParaRPr sz="1350" dirty="0">
              <a:latin typeface="Arial"/>
              <a:cs typeface="Arial"/>
            </a:endParaRPr>
          </a:p>
          <a:p>
            <a:pPr algn="ctr">
              <a:lnSpc>
                <a:spcPts val="1600"/>
              </a:lnSpc>
            </a:pPr>
            <a:r>
              <a:rPr sz="1350" b="1" i="1" spc="-114" dirty="0">
                <a:latin typeface="Arial"/>
                <a:cs typeface="Arial"/>
              </a:rPr>
              <a:t>deberíamos</a:t>
            </a:r>
            <a:r>
              <a:rPr sz="1350" b="1" i="1" spc="-35" dirty="0">
                <a:latin typeface="Arial"/>
                <a:cs typeface="Arial"/>
              </a:rPr>
              <a:t> </a:t>
            </a:r>
            <a:r>
              <a:rPr sz="1350" b="1" i="1" spc="-114" dirty="0">
                <a:latin typeface="Arial"/>
                <a:cs typeface="Arial"/>
              </a:rPr>
              <a:t>considerar</a:t>
            </a:r>
            <a:r>
              <a:rPr sz="1350" b="1" i="1" spc="-5" dirty="0">
                <a:latin typeface="Arial"/>
                <a:cs typeface="Arial"/>
              </a:rPr>
              <a:t> </a:t>
            </a:r>
            <a:r>
              <a:rPr sz="1350" b="1" i="1" spc="-110" dirty="0">
                <a:latin typeface="Arial"/>
                <a:cs typeface="Arial"/>
              </a:rPr>
              <a:t>para</a:t>
            </a:r>
            <a:r>
              <a:rPr sz="1350" b="1" i="1" spc="-55" dirty="0">
                <a:latin typeface="Arial"/>
                <a:cs typeface="Arial"/>
              </a:rPr>
              <a:t> </a:t>
            </a:r>
            <a:r>
              <a:rPr sz="1350" b="1" i="1" spc="-25" dirty="0">
                <a:latin typeface="Arial"/>
                <a:cs typeface="Arial"/>
              </a:rPr>
              <a:t>una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9781793" y="9004448"/>
            <a:ext cx="122936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i="1" spc="-120" dirty="0">
                <a:latin typeface="Arial"/>
                <a:cs typeface="Arial"/>
              </a:rPr>
              <a:t>posible</a:t>
            </a:r>
            <a:r>
              <a:rPr sz="1350" b="1" i="1" spc="-55" dirty="0">
                <a:latin typeface="Arial"/>
                <a:cs typeface="Arial"/>
              </a:rPr>
              <a:t> </a:t>
            </a:r>
            <a:r>
              <a:rPr sz="1350" b="1" i="1" spc="-125" dirty="0">
                <a:latin typeface="Arial"/>
                <a:cs typeface="Arial"/>
              </a:rPr>
              <a:t>solución?</a:t>
            </a:r>
            <a:endParaRPr sz="13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2396343" y="8410436"/>
            <a:ext cx="2229485" cy="42608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610235" marR="5080" indent="-598170">
              <a:lnSpc>
                <a:spcPts val="1510"/>
              </a:lnSpc>
              <a:spcBef>
                <a:spcPts val="254"/>
              </a:spcBef>
            </a:pPr>
            <a:r>
              <a:rPr sz="1350" b="1" i="1" spc="-155" dirty="0">
                <a:latin typeface="Arial"/>
                <a:cs typeface="Arial"/>
              </a:rPr>
              <a:t>¿Qué</a:t>
            </a:r>
            <a:r>
              <a:rPr sz="1350" b="1" i="1" spc="-70" dirty="0">
                <a:latin typeface="Arial"/>
                <a:cs typeface="Arial"/>
              </a:rPr>
              <a:t> </a:t>
            </a:r>
            <a:r>
              <a:rPr sz="1350" b="1" i="1" spc="-114" dirty="0">
                <a:latin typeface="Arial"/>
                <a:cs typeface="Arial"/>
              </a:rPr>
              <a:t>concluimos</a:t>
            </a:r>
            <a:r>
              <a:rPr sz="1350" b="1" i="1" spc="-110" dirty="0">
                <a:latin typeface="Arial"/>
                <a:cs typeface="Arial"/>
              </a:rPr>
              <a:t> de</a:t>
            </a:r>
            <a:r>
              <a:rPr sz="1350" b="1" i="1" spc="5" dirty="0">
                <a:latin typeface="Arial"/>
                <a:cs typeface="Arial"/>
              </a:rPr>
              <a:t> </a:t>
            </a:r>
            <a:r>
              <a:rPr sz="1350" b="1" i="1" spc="-114" dirty="0">
                <a:latin typeface="Arial"/>
                <a:cs typeface="Arial"/>
              </a:rPr>
              <a:t>esta</a:t>
            </a:r>
            <a:r>
              <a:rPr sz="1350" b="1" i="1" spc="-50" dirty="0">
                <a:latin typeface="Arial"/>
                <a:cs typeface="Arial"/>
              </a:rPr>
              <a:t> </a:t>
            </a:r>
            <a:r>
              <a:rPr sz="1350" b="1" i="1" spc="-75" dirty="0">
                <a:latin typeface="Arial"/>
                <a:cs typeface="Arial"/>
              </a:rPr>
              <a:t>breve </a:t>
            </a:r>
            <a:r>
              <a:rPr sz="1350" b="1" i="1" spc="-50" dirty="0">
                <a:latin typeface="Arial"/>
                <a:cs typeface="Arial"/>
              </a:rPr>
              <a:t>investigación?</a:t>
            </a:r>
            <a:endParaRPr sz="135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2477368" y="9004448"/>
            <a:ext cx="207010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i="1" spc="-155" dirty="0">
                <a:latin typeface="Arial"/>
                <a:cs typeface="Arial"/>
              </a:rPr>
              <a:t>¿Qué</a:t>
            </a:r>
            <a:r>
              <a:rPr sz="1350" b="1" i="1" spc="-20" dirty="0">
                <a:latin typeface="Arial"/>
                <a:cs typeface="Arial"/>
              </a:rPr>
              <a:t> </a:t>
            </a:r>
            <a:r>
              <a:rPr sz="1350" b="1" i="1" spc="-110" dirty="0">
                <a:latin typeface="Arial"/>
                <a:cs typeface="Arial"/>
              </a:rPr>
              <a:t>aprendizajes</a:t>
            </a:r>
            <a:r>
              <a:rPr sz="1350" b="1" i="1" spc="-65" dirty="0">
                <a:latin typeface="Arial"/>
                <a:cs typeface="Arial"/>
              </a:rPr>
              <a:t> </a:t>
            </a:r>
            <a:r>
              <a:rPr sz="1350" b="1" i="1" spc="-95" dirty="0">
                <a:latin typeface="Arial"/>
                <a:cs typeface="Arial"/>
              </a:rPr>
              <a:t>hubieron?</a:t>
            </a:r>
            <a:endParaRPr sz="1350">
              <a:latin typeface="Arial"/>
              <a:cs typeface="Arial"/>
            </a:endParaRPr>
          </a:p>
        </p:txBody>
      </p:sp>
      <p:sp>
        <p:nvSpPr>
          <p:cNvPr id="83" name="object 83" descr="$PPTXTitle"/>
          <p:cNvSpPr txBox="1">
            <a:spLocks noGrp="1"/>
          </p:cNvSpPr>
          <p:nvPr>
            <p:ph type="title"/>
          </p:nvPr>
        </p:nvSpPr>
        <p:spPr>
          <a:xfrm>
            <a:off x="529005" y="496189"/>
            <a:ext cx="969391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125" dirty="0">
                <a:solidFill>
                  <a:srgbClr val="FFFFFF"/>
                </a:solidFill>
                <a:latin typeface="Trebuchet MS"/>
                <a:cs typeface="Trebuchet MS"/>
              </a:rPr>
              <a:t>ACTIVIDAD</a:t>
            </a:r>
            <a:r>
              <a:rPr sz="235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35" dirty="0">
                <a:solidFill>
                  <a:srgbClr val="FFFFFF"/>
                </a:solidFill>
                <a:latin typeface="Trebuchet MS"/>
                <a:cs typeface="Trebuchet MS"/>
              </a:rPr>
              <a:t>GRUPAL</a:t>
            </a:r>
            <a:r>
              <a:rPr sz="235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14" dirty="0">
                <a:solidFill>
                  <a:srgbClr val="FFFFFF"/>
                </a:solidFill>
                <a:latin typeface="Trebuchet MS"/>
                <a:cs typeface="Trebuchet MS"/>
              </a:rPr>
              <a:t>Nº4</a:t>
            </a:r>
            <a:r>
              <a:rPr sz="235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25" dirty="0">
                <a:solidFill>
                  <a:srgbClr val="FFFFFF"/>
                </a:solidFill>
                <a:latin typeface="Trebuchet MS"/>
                <a:cs typeface="Trebuchet MS"/>
              </a:rPr>
              <a:t>LIENZO</a:t>
            </a:r>
            <a:r>
              <a:rPr sz="235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80" dirty="0">
                <a:solidFill>
                  <a:srgbClr val="FFFFFF"/>
                </a:solidFill>
                <a:latin typeface="Trebuchet MS"/>
                <a:cs typeface="Trebuchet MS"/>
              </a:rPr>
              <a:t>RESUMEN</a:t>
            </a:r>
            <a:r>
              <a:rPr sz="23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b="0" spc="215" dirty="0">
                <a:solidFill>
                  <a:srgbClr val="FFFFFF"/>
                </a:solidFill>
                <a:latin typeface="Trebuchet MS"/>
                <a:cs typeface="Trebuchet MS"/>
              </a:rPr>
              <a:t>DEL</a:t>
            </a:r>
            <a:r>
              <a:rPr sz="2350" b="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40" dirty="0">
                <a:solidFill>
                  <a:srgbClr val="FFFFFF"/>
                </a:solidFill>
                <a:latin typeface="Trebuchet MS"/>
                <a:cs typeface="Trebuchet MS"/>
              </a:rPr>
              <a:t>DOBLE</a:t>
            </a:r>
            <a:r>
              <a:rPr sz="235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350" spc="130" dirty="0">
                <a:solidFill>
                  <a:srgbClr val="FFFFFF"/>
                </a:solidFill>
                <a:latin typeface="Trebuchet MS"/>
                <a:cs typeface="Trebuchet MS"/>
              </a:rPr>
              <a:t>DIAMANTE</a:t>
            </a:r>
            <a:endParaRPr sz="2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991592"/>
              </p:ext>
            </p:extLst>
          </p:nvPr>
        </p:nvGraphicFramePr>
        <p:xfrm>
          <a:off x="411034" y="328637"/>
          <a:ext cx="14611985" cy="95399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11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0885">
                <a:tc>
                  <a:txBody>
                    <a:bodyPr/>
                    <a:lstStyle/>
                    <a:p>
                      <a:pPr marL="12065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2350" b="1" spc="1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ACTIVIDAD</a:t>
                      </a:r>
                      <a:r>
                        <a:rPr sz="2350" b="1" spc="-1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350" b="1" spc="1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GRUPAL</a:t>
                      </a:r>
                      <a:r>
                        <a:rPr sz="2350" b="1" spc="-1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350" b="1" spc="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Nº5</a:t>
                      </a:r>
                      <a:r>
                        <a:rPr sz="2350" b="1" spc="-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350" b="1" spc="10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PITCH</a:t>
                      </a:r>
                      <a:r>
                        <a:rPr sz="2350" b="1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350" spc="1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(DISCURSO</a:t>
                      </a:r>
                      <a:r>
                        <a:rPr sz="2350" spc="-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350" spc="21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DEL</a:t>
                      </a:r>
                      <a:r>
                        <a:rPr sz="2350" spc="-7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350" spc="10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EQUIPO)</a:t>
                      </a:r>
                      <a:endParaRPr sz="2350">
                        <a:latin typeface="Trebuchet MS"/>
                        <a:cs typeface="Trebuchet MS"/>
                      </a:endParaRPr>
                    </a:p>
                  </a:txBody>
                  <a:tcPr marL="0" marR="0" marT="1739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5F89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70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45"/>
                        </a:spcBef>
                      </a:pPr>
                      <a:endParaRPr lang="es-CL" sz="2000" dirty="0">
                        <a:latin typeface="Times New Roman"/>
                        <a:cs typeface="Times New Roman"/>
                      </a:endParaRPr>
                    </a:p>
                    <a:p>
                      <a:pPr marR="476250" algn="ctr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CONTEXTO</a:t>
                      </a:r>
                      <a:endParaRPr sz="2000" dirty="0">
                        <a:latin typeface="Arial"/>
                        <a:cs typeface="Arial"/>
                      </a:endParaRPr>
                    </a:p>
                    <a:p>
                      <a:pPr marR="470534" algn="ctr">
                        <a:lnSpc>
                          <a:spcPts val="1600"/>
                        </a:lnSpc>
                        <a:spcBef>
                          <a:spcPts val="125"/>
                        </a:spcBef>
                      </a:pPr>
                      <a:r>
                        <a:rPr sz="1350" b="1" i="1" spc="-95" dirty="0">
                          <a:latin typeface="Arial"/>
                          <a:cs typeface="Arial"/>
                        </a:rPr>
                        <a:t>Indicar</a:t>
                      </a:r>
                      <a:r>
                        <a:rPr sz="135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0" dirty="0">
                          <a:latin typeface="Arial"/>
                          <a:cs typeface="Arial"/>
                        </a:rPr>
                        <a:t>una</a:t>
                      </a:r>
                      <a:r>
                        <a:rPr sz="135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90" dirty="0">
                          <a:latin typeface="Arial"/>
                          <a:cs typeface="Arial"/>
                        </a:rPr>
                        <a:t>contextualización</a:t>
                      </a:r>
                      <a:r>
                        <a:rPr sz="1350" b="1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25" dirty="0">
                          <a:latin typeface="Arial"/>
                          <a:cs typeface="Arial"/>
                        </a:rPr>
                        <a:t>del</a:t>
                      </a:r>
                      <a:endParaRPr sz="1350" dirty="0">
                        <a:latin typeface="Arial"/>
                        <a:cs typeface="Arial"/>
                      </a:endParaRPr>
                    </a:p>
                    <a:p>
                      <a:pPr marR="475615" algn="ctr">
                        <a:lnSpc>
                          <a:spcPts val="1600"/>
                        </a:lnSpc>
                      </a:pPr>
                      <a:r>
                        <a:rPr sz="1350" b="1" i="1" spc="-90" dirty="0">
                          <a:latin typeface="Arial"/>
                          <a:cs typeface="Arial"/>
                        </a:rPr>
                        <a:t>ámbito</a:t>
                      </a:r>
                      <a:r>
                        <a:rPr sz="135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20" dirty="0">
                          <a:latin typeface="Arial"/>
                          <a:cs typeface="Arial"/>
                        </a:rPr>
                        <a:t>escogido,</a:t>
                      </a:r>
                      <a:r>
                        <a:rPr sz="135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90" dirty="0">
                          <a:latin typeface="Arial"/>
                          <a:cs typeface="Arial"/>
                        </a:rPr>
                        <a:t>integrando</a:t>
                      </a:r>
                      <a:r>
                        <a:rPr sz="135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90" dirty="0">
                          <a:latin typeface="Arial"/>
                          <a:cs typeface="Arial"/>
                        </a:rPr>
                        <a:t>al</a:t>
                      </a:r>
                      <a:r>
                        <a:rPr sz="1350" b="1" i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0" dirty="0">
                          <a:latin typeface="Arial"/>
                          <a:cs typeface="Arial"/>
                        </a:rPr>
                        <a:t>usuario</a:t>
                      </a:r>
                      <a:r>
                        <a:rPr sz="135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35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0" dirty="0">
                          <a:latin typeface="Arial"/>
                          <a:cs typeface="Arial"/>
                        </a:rPr>
                        <a:t>entorno.</a:t>
                      </a:r>
                      <a:endParaRPr sz="135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 dirty="0">
                        <a:latin typeface="Times New Roman"/>
                        <a:cs typeface="Times New Roman"/>
                      </a:endParaRPr>
                    </a:p>
                    <a:p>
                      <a:pPr marL="970280" marR="1449705" indent="1270" algn="ctr">
                        <a:lnSpc>
                          <a:spcPct val="95600"/>
                        </a:lnSpc>
                      </a:pPr>
                      <a:r>
                        <a:rPr sz="1600" b="1" i="1" spc="-100" dirty="0">
                          <a:latin typeface="Arial"/>
                          <a:cs typeface="Arial"/>
                        </a:rPr>
                        <a:t>"Actualmente,</a:t>
                      </a:r>
                      <a:r>
                        <a:rPr sz="16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16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0" dirty="0">
                          <a:latin typeface="Arial"/>
                          <a:cs typeface="Arial"/>
                        </a:rPr>
                        <a:t>familias</a:t>
                      </a:r>
                      <a:r>
                        <a:rPr sz="16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4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600" b="1" i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30" dirty="0">
                          <a:latin typeface="Arial"/>
                          <a:cs typeface="Arial"/>
                        </a:rPr>
                        <a:t>niños</a:t>
                      </a:r>
                      <a:r>
                        <a:rPr sz="16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4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600" b="1" i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5" dirty="0">
                          <a:latin typeface="Arial"/>
                          <a:cs typeface="Arial"/>
                        </a:rPr>
                        <a:t>Trastorno</a:t>
                      </a:r>
                      <a:r>
                        <a:rPr sz="1600" b="1" i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0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600" b="1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Espectro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90" dirty="0">
                          <a:latin typeface="Arial"/>
                          <a:cs typeface="Arial"/>
                        </a:rPr>
                        <a:t>Autista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5" dirty="0">
                          <a:latin typeface="Arial"/>
                          <a:cs typeface="Arial"/>
                        </a:rPr>
                        <a:t>(TEA)</a:t>
                      </a:r>
                      <a:r>
                        <a:rPr sz="1600" b="1" i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80" dirty="0">
                          <a:latin typeface="Arial"/>
                          <a:cs typeface="Arial"/>
                        </a:rPr>
                        <a:t>enfrentan</a:t>
                      </a:r>
                      <a:r>
                        <a:rPr sz="1600" b="1" i="1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desafíos</a:t>
                      </a:r>
                      <a:r>
                        <a:rPr sz="16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diarios</a:t>
                      </a:r>
                      <a:r>
                        <a:rPr sz="1600" b="1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6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70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b="1" i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crisis</a:t>
                      </a:r>
                      <a:r>
                        <a:rPr sz="16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5" dirty="0">
                          <a:latin typeface="Arial"/>
                          <a:cs typeface="Arial"/>
                        </a:rPr>
                        <a:t>sensoriales</a:t>
                      </a:r>
                      <a:r>
                        <a:rPr sz="16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b="1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emocionales.</a:t>
                      </a:r>
                      <a:r>
                        <a:rPr sz="1600" b="1" i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35" dirty="0">
                          <a:latin typeface="Arial"/>
                          <a:cs typeface="Arial"/>
                        </a:rPr>
                        <a:t>Estas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" dirty="0">
                          <a:latin typeface="Arial"/>
                          <a:cs typeface="Arial"/>
                        </a:rPr>
                        <a:t>situaciones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suelen</a:t>
                      </a:r>
                      <a:r>
                        <a:rPr sz="16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95" dirty="0">
                          <a:latin typeface="Arial"/>
                          <a:cs typeface="Arial"/>
                        </a:rPr>
                        <a:t>ocurrir</a:t>
                      </a:r>
                      <a:r>
                        <a:rPr sz="1600" b="1" i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600" b="1" i="1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5" dirty="0">
                          <a:latin typeface="Arial"/>
                          <a:cs typeface="Arial"/>
                        </a:rPr>
                        <a:t>entornos</a:t>
                      </a:r>
                      <a:r>
                        <a:rPr sz="16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públicos</a:t>
                      </a:r>
                      <a:r>
                        <a:rPr sz="16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30" dirty="0">
                          <a:latin typeface="Arial"/>
                          <a:cs typeface="Arial"/>
                        </a:rPr>
                        <a:t>escolares,</a:t>
                      </a:r>
                      <a:r>
                        <a:rPr sz="16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donde</a:t>
                      </a:r>
                      <a:r>
                        <a:rPr sz="1600" b="1" i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0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600" b="1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sobreestimulación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6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6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falta</a:t>
                      </a:r>
                      <a:r>
                        <a:rPr sz="1600" b="1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b="1" i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0" dirty="0">
                          <a:latin typeface="Arial"/>
                          <a:cs typeface="Arial"/>
                        </a:rPr>
                        <a:t>herramientas</a:t>
                      </a:r>
                      <a:r>
                        <a:rPr sz="16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b="1" i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comunicación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75" dirty="0">
                          <a:latin typeface="Arial"/>
                          <a:cs typeface="Arial"/>
                        </a:rPr>
                        <a:t>inmediata</a:t>
                      </a:r>
                      <a:r>
                        <a:rPr sz="1600" b="1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5" dirty="0">
                          <a:latin typeface="Arial"/>
                          <a:cs typeface="Arial"/>
                        </a:rPr>
                        <a:t>generan</a:t>
                      </a:r>
                      <a:r>
                        <a:rPr sz="1600" b="1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1600" b="1" i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70" dirty="0">
                          <a:latin typeface="Arial"/>
                          <a:cs typeface="Arial"/>
                        </a:rPr>
                        <a:t>alto</a:t>
                      </a:r>
                      <a:r>
                        <a:rPr sz="16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5" dirty="0">
                          <a:latin typeface="Arial"/>
                          <a:cs typeface="Arial"/>
                        </a:rPr>
                        <a:t>nivel</a:t>
                      </a:r>
                      <a:r>
                        <a:rPr sz="1600" b="1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b="1" i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estrés</a:t>
                      </a:r>
                      <a:r>
                        <a:rPr sz="16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55" dirty="0">
                          <a:latin typeface="Arial"/>
                          <a:cs typeface="Arial"/>
                        </a:rPr>
                        <a:t>tanto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20" dirty="0">
                          <a:latin typeface="Arial"/>
                          <a:cs typeface="Arial"/>
                        </a:rPr>
                        <a:t>para </a:t>
                      </a:r>
                      <a:r>
                        <a:rPr sz="1600" b="1" i="1" spc="-9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6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niño</a:t>
                      </a:r>
                      <a:r>
                        <a:rPr sz="1600" b="1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como</a:t>
                      </a:r>
                      <a:r>
                        <a:rPr sz="1600" b="1" i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para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50" dirty="0">
                          <a:latin typeface="Arial"/>
                          <a:cs typeface="Arial"/>
                        </a:rPr>
                        <a:t>su</a:t>
                      </a:r>
                      <a:r>
                        <a:rPr sz="16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90" dirty="0">
                          <a:latin typeface="Arial"/>
                          <a:cs typeface="Arial"/>
                        </a:rPr>
                        <a:t>entorno.</a:t>
                      </a:r>
                      <a:r>
                        <a:rPr sz="16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30" dirty="0">
                          <a:latin typeface="Arial"/>
                          <a:cs typeface="Arial"/>
                        </a:rPr>
                        <a:t>Nos</a:t>
                      </a:r>
                      <a:r>
                        <a:rPr sz="160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enfocamos</a:t>
                      </a:r>
                      <a:r>
                        <a:rPr sz="160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600" b="1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16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5" dirty="0">
                          <a:latin typeface="Arial"/>
                          <a:cs typeface="Arial"/>
                        </a:rPr>
                        <a:t>escenario</a:t>
                      </a:r>
                      <a:r>
                        <a:rPr sz="16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0" dirty="0">
                          <a:latin typeface="Arial"/>
                          <a:cs typeface="Arial"/>
                        </a:rPr>
                        <a:t>donde</a:t>
                      </a:r>
                      <a:r>
                        <a:rPr sz="1600" b="1" i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9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6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0" dirty="0">
                          <a:latin typeface="Arial"/>
                          <a:cs typeface="Arial"/>
                        </a:rPr>
                        <a:t>cuidador</a:t>
                      </a:r>
                      <a:r>
                        <a:rPr sz="160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necesita</a:t>
                      </a:r>
                      <a:r>
                        <a:rPr sz="16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una</a:t>
                      </a:r>
                      <a:r>
                        <a:rPr sz="1600" b="1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asistencia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rápida</a:t>
                      </a:r>
                      <a:r>
                        <a:rPr sz="1600" b="1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600" b="1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0" dirty="0">
                          <a:latin typeface="Arial"/>
                          <a:cs typeface="Arial"/>
                        </a:rPr>
                        <a:t>discreta</a:t>
                      </a:r>
                      <a:r>
                        <a:rPr sz="16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4" dirty="0">
                          <a:latin typeface="Arial"/>
                          <a:cs typeface="Arial"/>
                        </a:rPr>
                        <a:t>que</a:t>
                      </a:r>
                      <a:r>
                        <a:rPr sz="1600" b="1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80" dirty="0">
                          <a:latin typeface="Arial"/>
                          <a:cs typeface="Arial"/>
                        </a:rPr>
                        <a:t>actúe</a:t>
                      </a:r>
                      <a:r>
                        <a:rPr sz="1600" b="1" i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20" dirty="0">
                          <a:latin typeface="Arial"/>
                          <a:cs typeface="Arial"/>
                        </a:rPr>
                        <a:t>como</a:t>
                      </a:r>
                      <a:r>
                        <a:rPr sz="16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75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16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0" dirty="0">
                          <a:latin typeface="Arial"/>
                          <a:cs typeface="Arial"/>
                        </a:rPr>
                        <a:t>puente</a:t>
                      </a:r>
                      <a:r>
                        <a:rPr sz="1600" b="1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600" b="1" i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i="1" spc="-10" dirty="0">
                          <a:latin typeface="Arial"/>
                          <a:cs typeface="Arial"/>
                        </a:rPr>
                        <a:t>calma”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0860"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2050"/>
                        </a:spcBef>
                      </a:pPr>
                      <a:r>
                        <a:rPr sz="2000" b="1" spc="-90" dirty="0">
                          <a:latin typeface="Arial"/>
                          <a:cs typeface="Arial"/>
                        </a:rPr>
                        <a:t>PROBLEMAS</a:t>
                      </a:r>
                      <a:endParaRPr sz="2000" dirty="0">
                        <a:latin typeface="Arial"/>
                        <a:cs typeface="Arial"/>
                      </a:endParaRPr>
                    </a:p>
                    <a:p>
                      <a:pPr marR="10160" algn="ctr">
                        <a:lnSpc>
                          <a:spcPts val="1605"/>
                        </a:lnSpc>
                        <a:spcBef>
                          <a:spcPts val="125"/>
                        </a:spcBef>
                      </a:pPr>
                      <a:r>
                        <a:rPr sz="1350" b="1" i="1" spc="-95" dirty="0">
                          <a:latin typeface="Arial"/>
                          <a:cs typeface="Arial"/>
                        </a:rPr>
                        <a:t>Inicia</a:t>
                      </a:r>
                      <a:r>
                        <a:rPr sz="135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70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350" b="1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05" dirty="0">
                          <a:latin typeface="Arial"/>
                          <a:cs typeface="Arial"/>
                        </a:rPr>
                        <a:t>presentación</a:t>
                      </a:r>
                      <a:r>
                        <a:rPr sz="1350" b="1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0" dirty="0">
                          <a:latin typeface="Arial"/>
                          <a:cs typeface="Arial"/>
                        </a:rPr>
                        <a:t>explicando</a:t>
                      </a:r>
                      <a:r>
                        <a:rPr sz="135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0" dirty="0">
                          <a:latin typeface="Arial"/>
                          <a:cs typeface="Arial"/>
                        </a:rPr>
                        <a:t>principales</a:t>
                      </a:r>
                      <a:r>
                        <a:rPr sz="1350" b="1" i="1" spc="-10" dirty="0">
                          <a:latin typeface="Arial"/>
                          <a:cs typeface="Arial"/>
                        </a:rPr>
                        <a:t> problemas</a:t>
                      </a:r>
                      <a:endParaRPr sz="1350" dirty="0">
                        <a:latin typeface="Arial"/>
                        <a:cs typeface="Arial"/>
                      </a:endParaRPr>
                    </a:p>
                    <a:p>
                      <a:pPr marR="13970" algn="ctr">
                        <a:lnSpc>
                          <a:spcPts val="1605"/>
                        </a:lnSpc>
                      </a:pPr>
                      <a:r>
                        <a:rPr sz="1350" b="1" i="1" spc="-114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35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35" dirty="0">
                          <a:latin typeface="Arial"/>
                          <a:cs typeface="Arial"/>
                        </a:rPr>
                        <a:t>base</a:t>
                      </a:r>
                      <a:r>
                        <a:rPr sz="1350" b="1" i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90" dirty="0">
                          <a:latin typeface="Arial"/>
                          <a:cs typeface="Arial"/>
                        </a:rPr>
                        <a:t>al</a:t>
                      </a:r>
                      <a:r>
                        <a:rPr sz="135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25" dirty="0">
                          <a:latin typeface="Arial"/>
                          <a:cs typeface="Arial"/>
                        </a:rPr>
                        <a:t>usuario</a:t>
                      </a:r>
                      <a:r>
                        <a:rPr sz="1350" b="1" i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4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35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135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0" dirty="0">
                          <a:latin typeface="Arial"/>
                          <a:cs typeface="Arial"/>
                        </a:rPr>
                        <a:t>contexto.</a:t>
                      </a:r>
                      <a:endParaRPr sz="1350" dirty="0">
                        <a:latin typeface="Arial"/>
                        <a:cs typeface="Arial"/>
                      </a:endParaRPr>
                    </a:p>
                    <a:p>
                      <a:pPr marR="12065" algn="ctr">
                        <a:lnSpc>
                          <a:spcPct val="100000"/>
                        </a:lnSpc>
                        <a:spcBef>
                          <a:spcPts val="1475"/>
                        </a:spcBef>
                      </a:pPr>
                      <a:r>
                        <a:rPr sz="1350" b="1" i="1" spc="-90" dirty="0">
                          <a:latin typeface="Arial"/>
                          <a:cs typeface="Arial"/>
                        </a:rPr>
                        <a:t>Indicar</a:t>
                      </a:r>
                      <a:r>
                        <a:rPr sz="135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20" dirty="0">
                          <a:latin typeface="Arial"/>
                          <a:cs typeface="Arial"/>
                        </a:rPr>
                        <a:t>cuál</a:t>
                      </a:r>
                      <a:r>
                        <a:rPr sz="135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60" dirty="0">
                          <a:latin typeface="Arial"/>
                          <a:cs typeface="Arial"/>
                        </a:rPr>
                        <a:t>es</a:t>
                      </a:r>
                      <a:r>
                        <a:rPr sz="135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9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35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05" dirty="0">
                          <a:latin typeface="Arial"/>
                          <a:cs typeface="Arial"/>
                        </a:rPr>
                        <a:t>problema</a:t>
                      </a:r>
                      <a:r>
                        <a:rPr sz="135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55" dirty="0">
                          <a:latin typeface="Arial"/>
                          <a:cs typeface="Arial"/>
                        </a:rPr>
                        <a:t>más</a:t>
                      </a:r>
                      <a:r>
                        <a:rPr sz="1350" b="1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80" dirty="0">
                          <a:latin typeface="Arial"/>
                          <a:cs typeface="Arial"/>
                        </a:rPr>
                        <a:t>relevante</a:t>
                      </a:r>
                      <a:r>
                        <a:rPr sz="1350" b="1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350" b="1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0" dirty="0">
                          <a:latin typeface="Arial"/>
                          <a:cs typeface="Arial"/>
                        </a:rPr>
                        <a:t>porque</a:t>
                      </a:r>
                      <a:r>
                        <a:rPr sz="1350" b="1" i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40" dirty="0">
                          <a:latin typeface="Arial"/>
                          <a:cs typeface="Arial"/>
                        </a:rPr>
                        <a:t>se</a:t>
                      </a:r>
                      <a:r>
                        <a:rPr sz="1350" b="1" i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90" dirty="0">
                          <a:latin typeface="Arial"/>
                          <a:cs typeface="Arial"/>
                        </a:rPr>
                        <a:t>justifica</a:t>
                      </a:r>
                      <a:r>
                        <a:rPr sz="1350" b="1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0" dirty="0">
                          <a:latin typeface="Arial"/>
                          <a:cs typeface="Arial"/>
                        </a:rPr>
                        <a:t>abordarlo</a:t>
                      </a:r>
                      <a:endParaRPr sz="1350" dirty="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5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350" dirty="0">
                        <a:latin typeface="Times New Roman"/>
                        <a:cs typeface="Times New Roman"/>
                      </a:endParaRPr>
                    </a:p>
                    <a:p>
                      <a:pPr marL="1167130" marR="1181100" algn="ctr">
                        <a:lnSpc>
                          <a:spcPct val="96400"/>
                        </a:lnSpc>
                      </a:pPr>
                      <a:r>
                        <a:rPr sz="1800" b="1" i="1" spc="-135" dirty="0">
                          <a:latin typeface="Arial"/>
                          <a:cs typeface="Arial"/>
                        </a:rPr>
                        <a:t>"El</a:t>
                      </a:r>
                      <a:r>
                        <a:rPr sz="1800" b="1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5" dirty="0">
                          <a:latin typeface="Arial"/>
                          <a:cs typeface="Arial"/>
                        </a:rPr>
                        <a:t>problema</a:t>
                      </a:r>
                      <a:r>
                        <a:rPr sz="1800" b="1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85" dirty="0">
                          <a:latin typeface="Arial"/>
                          <a:cs typeface="Arial"/>
                        </a:rPr>
                        <a:t>central </a:t>
                      </a:r>
                      <a:r>
                        <a:rPr sz="1800" b="1" i="1" spc="-130" dirty="0">
                          <a:latin typeface="Arial"/>
                          <a:cs typeface="Arial"/>
                        </a:rPr>
                        <a:t>es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6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8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20" dirty="0">
                          <a:latin typeface="Arial"/>
                          <a:cs typeface="Arial"/>
                        </a:rPr>
                        <a:t>desconexión</a:t>
                      </a:r>
                      <a:r>
                        <a:rPr sz="1800" b="1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comunicativa</a:t>
                      </a:r>
                      <a:r>
                        <a:rPr sz="1800" b="1" i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90" dirty="0">
                          <a:latin typeface="Arial"/>
                          <a:cs typeface="Arial"/>
                        </a:rPr>
                        <a:t>durante</a:t>
                      </a:r>
                      <a:r>
                        <a:rPr sz="18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una</a:t>
                      </a:r>
                      <a:r>
                        <a:rPr sz="1800" b="1" i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40" dirty="0">
                          <a:latin typeface="Arial"/>
                          <a:cs typeface="Arial"/>
                        </a:rPr>
                        <a:t>crisis.</a:t>
                      </a:r>
                      <a:r>
                        <a:rPr sz="1800" b="1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50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800" b="1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20" dirty="0">
                          <a:latin typeface="Arial"/>
                          <a:cs typeface="Arial"/>
                        </a:rPr>
                        <a:t>estos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5" dirty="0">
                          <a:latin typeface="Arial"/>
                          <a:cs typeface="Arial"/>
                        </a:rPr>
                        <a:t>momentos,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5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800" b="1" i="1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procesamiento</a:t>
                      </a:r>
                      <a:r>
                        <a:rPr sz="1800" b="1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verbal</a:t>
                      </a:r>
                      <a:r>
                        <a:rPr sz="1800" b="1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800" b="1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niño</a:t>
                      </a:r>
                      <a:r>
                        <a:rPr sz="1800" b="1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245" dirty="0">
                          <a:latin typeface="Arial"/>
                          <a:cs typeface="Arial"/>
                        </a:rPr>
                        <a:t>se</a:t>
                      </a:r>
                      <a:r>
                        <a:rPr sz="1800" b="1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bloquea,</a:t>
                      </a:r>
                      <a:r>
                        <a:rPr sz="180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impidiéndole</a:t>
                      </a:r>
                      <a:r>
                        <a:rPr sz="1800" b="1" i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20" dirty="0">
                          <a:latin typeface="Arial"/>
                          <a:cs typeface="Arial"/>
                        </a:rPr>
                        <a:t>expresar</a:t>
                      </a:r>
                      <a:r>
                        <a:rPr sz="1800" b="1" i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4" dirty="0">
                          <a:latin typeface="Arial"/>
                          <a:cs typeface="Arial"/>
                        </a:rPr>
                        <a:t>qué</a:t>
                      </a:r>
                      <a:r>
                        <a:rPr sz="1800" b="1" i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" dirty="0">
                          <a:latin typeface="Arial"/>
                          <a:cs typeface="Arial"/>
                        </a:rPr>
                        <a:t>necesita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qué</a:t>
                      </a:r>
                      <a:r>
                        <a:rPr sz="1800" b="1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le</a:t>
                      </a:r>
                      <a:r>
                        <a:rPr sz="1800" b="1" i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5" dirty="0">
                          <a:latin typeface="Arial"/>
                          <a:cs typeface="Arial"/>
                        </a:rPr>
                        <a:t>molesta.</a:t>
                      </a:r>
                      <a:r>
                        <a:rPr sz="1800" b="1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75" dirty="0">
                          <a:latin typeface="Arial"/>
                          <a:cs typeface="Arial"/>
                        </a:rPr>
                        <a:t>Los</a:t>
                      </a:r>
                      <a:r>
                        <a:rPr sz="18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métodos</a:t>
                      </a:r>
                      <a:r>
                        <a:rPr sz="18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tradicionales</a:t>
                      </a:r>
                      <a:r>
                        <a:rPr sz="180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20" dirty="0">
                          <a:latin typeface="Arial"/>
                          <a:cs typeface="Arial"/>
                        </a:rPr>
                        <a:t>(como</a:t>
                      </a:r>
                      <a:r>
                        <a:rPr sz="18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5" dirty="0">
                          <a:latin typeface="Arial"/>
                          <a:cs typeface="Arial"/>
                        </a:rPr>
                        <a:t>carpetas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800" b="1" i="1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5" dirty="0">
                          <a:latin typeface="Arial"/>
                          <a:cs typeface="Arial"/>
                        </a:rPr>
                        <a:t>pictogramas</a:t>
                      </a:r>
                      <a:r>
                        <a:rPr sz="180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25" dirty="0">
                          <a:latin typeface="Arial"/>
                          <a:cs typeface="Arial"/>
                        </a:rPr>
                        <a:t>físicos)</a:t>
                      </a:r>
                      <a:r>
                        <a:rPr sz="1800" b="1" i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suelen</a:t>
                      </a:r>
                      <a:r>
                        <a:rPr sz="18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25" dirty="0">
                          <a:latin typeface="Arial"/>
                          <a:cs typeface="Arial"/>
                        </a:rPr>
                        <a:t>ser</a:t>
                      </a:r>
                      <a:r>
                        <a:rPr sz="1800" b="1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lentos</a:t>
                      </a:r>
                      <a:r>
                        <a:rPr sz="18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8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difíciles</a:t>
                      </a:r>
                      <a:r>
                        <a:rPr sz="180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800" b="1" i="1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transportar.Justificación:</a:t>
                      </a:r>
                      <a:r>
                        <a:rPr sz="180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204" dirty="0">
                          <a:latin typeface="Arial"/>
                          <a:cs typeface="Arial"/>
                        </a:rPr>
                        <a:t>Es</a:t>
                      </a:r>
                      <a:r>
                        <a:rPr sz="180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85" dirty="0">
                          <a:latin typeface="Arial"/>
                          <a:cs typeface="Arial"/>
                        </a:rPr>
                        <a:t>urgente</a:t>
                      </a:r>
                      <a:r>
                        <a:rPr sz="18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abordarlo</a:t>
                      </a:r>
                      <a:r>
                        <a:rPr sz="18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porque</a:t>
                      </a:r>
                      <a:r>
                        <a:rPr sz="1800" b="1" i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25" dirty="0">
                          <a:latin typeface="Arial"/>
                          <a:cs typeface="Arial"/>
                        </a:rPr>
                        <a:t>una </a:t>
                      </a:r>
                      <a:r>
                        <a:rPr sz="1800" b="1" i="1" spc="-135" dirty="0">
                          <a:latin typeface="Arial"/>
                          <a:cs typeface="Arial"/>
                        </a:rPr>
                        <a:t>crisis</a:t>
                      </a:r>
                      <a:r>
                        <a:rPr sz="180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5" dirty="0">
                          <a:latin typeface="Arial"/>
                          <a:cs typeface="Arial"/>
                        </a:rPr>
                        <a:t>mal</a:t>
                      </a:r>
                      <a:r>
                        <a:rPr sz="180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5" dirty="0">
                          <a:latin typeface="Arial"/>
                          <a:cs typeface="Arial"/>
                        </a:rPr>
                        <a:t>gestionada</a:t>
                      </a:r>
                      <a:r>
                        <a:rPr sz="18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4" dirty="0">
                          <a:latin typeface="Arial"/>
                          <a:cs typeface="Arial"/>
                        </a:rPr>
                        <a:t>puede</a:t>
                      </a:r>
                      <a:r>
                        <a:rPr sz="1800" b="1" i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90" dirty="0">
                          <a:latin typeface="Arial"/>
                          <a:cs typeface="Arial"/>
                        </a:rPr>
                        <a:t>derivar</a:t>
                      </a:r>
                      <a:r>
                        <a:rPr sz="1800" b="1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4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18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autolesiones,</a:t>
                      </a:r>
                      <a:r>
                        <a:rPr sz="18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85" dirty="0">
                          <a:latin typeface="Arial"/>
                          <a:cs typeface="Arial"/>
                        </a:rPr>
                        <a:t>agotamiento</a:t>
                      </a:r>
                      <a:r>
                        <a:rPr sz="18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80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cuidador</a:t>
                      </a:r>
                      <a:r>
                        <a:rPr sz="1800" b="1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20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800" b="1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aislamiento</a:t>
                      </a:r>
                      <a:r>
                        <a:rPr sz="180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30" dirty="0">
                          <a:latin typeface="Arial"/>
                          <a:cs typeface="Arial"/>
                        </a:rPr>
                        <a:t>social</a:t>
                      </a:r>
                      <a:r>
                        <a:rPr sz="180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800" b="1" i="1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6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8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85" dirty="0">
                          <a:latin typeface="Arial"/>
                          <a:cs typeface="Arial"/>
                        </a:rPr>
                        <a:t>familia.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8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60" dirty="0">
                          <a:latin typeface="Arial"/>
                          <a:cs typeface="Arial"/>
                        </a:rPr>
                        <a:t>falta</a:t>
                      </a:r>
                      <a:r>
                        <a:rPr sz="1800" b="1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800" b="1" i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5" dirty="0">
                          <a:latin typeface="Arial"/>
                          <a:cs typeface="Arial"/>
                        </a:rPr>
                        <a:t>una</a:t>
                      </a:r>
                      <a:r>
                        <a:rPr sz="18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85" dirty="0">
                          <a:latin typeface="Arial"/>
                          <a:cs typeface="Arial"/>
                        </a:rPr>
                        <a:t>herramienta</a:t>
                      </a:r>
                      <a:r>
                        <a:rPr sz="18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75" dirty="0">
                          <a:latin typeface="Arial"/>
                          <a:cs typeface="Arial"/>
                        </a:rPr>
                        <a:t>digital</a:t>
                      </a:r>
                      <a:r>
                        <a:rPr sz="180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0" dirty="0">
                          <a:latin typeface="Arial"/>
                          <a:cs typeface="Arial"/>
                        </a:rPr>
                        <a:t>inmediata</a:t>
                      </a:r>
                      <a:r>
                        <a:rPr sz="1800" b="1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deja</a:t>
                      </a:r>
                      <a:r>
                        <a:rPr sz="1800" b="1" i="1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8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25" dirty="0">
                          <a:latin typeface="Arial"/>
                          <a:cs typeface="Arial"/>
                        </a:rPr>
                        <a:t>los</a:t>
                      </a:r>
                      <a:r>
                        <a:rPr sz="1800" b="1" i="1" spc="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25" dirty="0">
                          <a:latin typeface="Arial"/>
                          <a:cs typeface="Arial"/>
                        </a:rPr>
                        <a:t>padres</a:t>
                      </a:r>
                      <a:r>
                        <a:rPr sz="1800" b="1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35" dirty="0">
                          <a:latin typeface="Arial"/>
                          <a:cs typeface="Arial"/>
                        </a:rPr>
                        <a:t>sin</a:t>
                      </a:r>
                      <a:r>
                        <a:rPr sz="1800" b="1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1800" b="1" i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95" dirty="0">
                          <a:latin typeface="Arial"/>
                          <a:cs typeface="Arial"/>
                        </a:rPr>
                        <a:t>protocolo</a:t>
                      </a:r>
                      <a:r>
                        <a:rPr sz="1800" b="1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claro</a:t>
                      </a:r>
                      <a:r>
                        <a:rPr sz="1800" b="1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1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800" b="1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i="1" spc="-10" dirty="0">
                          <a:latin typeface="Arial"/>
                          <a:cs typeface="Arial"/>
                        </a:rPr>
                        <a:t>actuación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260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lnB w="9525">
                      <a:solidFill>
                        <a:srgbClr val="000000"/>
                      </a:solidFill>
                      <a:prstDash val="sys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6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2000" dirty="0">
                        <a:latin typeface="Times New Roman"/>
                        <a:cs typeface="Times New Roman"/>
                      </a:endParaRPr>
                    </a:p>
                    <a:p>
                      <a:pPr marR="4445" algn="ctr">
                        <a:lnSpc>
                          <a:spcPct val="100000"/>
                        </a:lnSpc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OPORTUNIDAD</a:t>
                      </a:r>
                      <a:endParaRPr sz="2000" dirty="0">
                        <a:latin typeface="Arial"/>
                        <a:cs typeface="Arial"/>
                      </a:endParaRPr>
                    </a:p>
                    <a:p>
                      <a:pPr marL="5857875" marR="5872480" indent="15240" algn="ctr">
                        <a:lnSpc>
                          <a:spcPct val="95600"/>
                        </a:lnSpc>
                        <a:spcBef>
                          <a:spcPts val="195"/>
                        </a:spcBef>
                      </a:pPr>
                      <a:r>
                        <a:rPr sz="1350" b="1" i="1" spc="-114" dirty="0">
                          <a:latin typeface="Arial"/>
                          <a:cs typeface="Arial"/>
                        </a:rPr>
                        <a:t>Menciona</a:t>
                      </a:r>
                      <a:r>
                        <a:rPr sz="135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65" dirty="0">
                          <a:latin typeface="Arial"/>
                          <a:cs typeface="Arial"/>
                        </a:rPr>
                        <a:t>la</a:t>
                      </a:r>
                      <a:r>
                        <a:rPr sz="1350" b="1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4" dirty="0">
                          <a:latin typeface="Arial"/>
                          <a:cs typeface="Arial"/>
                        </a:rPr>
                        <a:t>perspectiva</a:t>
                      </a:r>
                      <a:r>
                        <a:rPr sz="1350" b="1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4" dirty="0">
                          <a:latin typeface="Arial"/>
                          <a:cs typeface="Arial"/>
                        </a:rPr>
                        <a:t>que</a:t>
                      </a:r>
                      <a:r>
                        <a:rPr sz="1350" b="1" i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0" dirty="0">
                          <a:latin typeface="Arial"/>
                          <a:cs typeface="Arial"/>
                        </a:rPr>
                        <a:t>abordaras </a:t>
                      </a:r>
                      <a:r>
                        <a:rPr sz="1350" b="1" i="1" spc="-114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350" b="1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60" dirty="0">
                          <a:latin typeface="Arial"/>
                          <a:cs typeface="Arial"/>
                        </a:rPr>
                        <a:t>tu</a:t>
                      </a:r>
                      <a:r>
                        <a:rPr sz="1350" b="1" i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4" dirty="0">
                          <a:latin typeface="Arial"/>
                          <a:cs typeface="Arial"/>
                        </a:rPr>
                        <a:t>equipo</a:t>
                      </a:r>
                      <a:r>
                        <a:rPr sz="1350" b="1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0" dirty="0">
                          <a:latin typeface="Arial"/>
                          <a:cs typeface="Arial"/>
                        </a:rPr>
                        <a:t>para</a:t>
                      </a:r>
                      <a:r>
                        <a:rPr sz="1350" b="1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350" b="1" i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75" dirty="0">
                          <a:latin typeface="Arial"/>
                          <a:cs typeface="Arial"/>
                        </a:rPr>
                        <a:t>futuro</a:t>
                      </a:r>
                      <a:r>
                        <a:rPr sz="1350" b="1" i="1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14" dirty="0" err="1">
                          <a:latin typeface="Arial"/>
                          <a:cs typeface="Arial"/>
                        </a:rPr>
                        <a:t>solucionar</a:t>
                      </a:r>
                      <a:r>
                        <a:rPr sz="1350" b="1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25" dirty="0" err="1">
                          <a:latin typeface="Arial"/>
                          <a:cs typeface="Arial"/>
                        </a:rPr>
                        <a:t>el</a:t>
                      </a:r>
                      <a:r>
                        <a:rPr lang="es-MX" sz="1350" b="1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="1" i="1" spc="-10" dirty="0" err="1">
                          <a:latin typeface="Arial"/>
                          <a:cs typeface="Arial"/>
                        </a:rPr>
                        <a:t>problema</a:t>
                      </a:r>
                      <a:r>
                        <a:rPr sz="1350" b="1" i="1" spc="-10" dirty="0">
                          <a:latin typeface="Arial"/>
                          <a:cs typeface="Arial"/>
                        </a:rPr>
                        <a:t>.</a:t>
                      </a:r>
                      <a:endParaRPr sz="1350" dirty="0">
                        <a:latin typeface="Arial"/>
                        <a:cs typeface="Arial"/>
                      </a:endParaRPr>
                    </a:p>
                    <a:p>
                      <a:pPr marL="3041015" marR="2745105" algn="ctr">
                        <a:lnSpc>
                          <a:spcPct val="103400"/>
                        </a:lnSpc>
                        <a:spcBef>
                          <a:spcPts val="235"/>
                        </a:spcBef>
                      </a:pP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"Nuestra</a:t>
                      </a:r>
                      <a:r>
                        <a:rPr sz="1600" b="1" i="1" spc="7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oportunidad</a:t>
                      </a:r>
                      <a:r>
                        <a:rPr sz="1600" b="1" i="1" spc="7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reside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sz="1600" b="1" i="1" spc="7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transformar</a:t>
                      </a:r>
                      <a:r>
                        <a:rPr sz="1600" b="1" i="1" spc="9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</a:t>
                      </a:r>
                      <a:r>
                        <a:rPr sz="1600" b="1" i="1" spc="1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dispositivo</a:t>
                      </a:r>
                      <a:r>
                        <a:rPr sz="1600" b="1" i="1" spc="7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móvil</a:t>
                      </a:r>
                      <a:r>
                        <a:rPr sz="1600" b="1" i="1" spc="15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—que</a:t>
                      </a:r>
                      <a:r>
                        <a:rPr sz="1600" b="1" i="1" spc="7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ya</a:t>
                      </a:r>
                      <a:r>
                        <a:rPr sz="1600" b="1" i="1" spc="16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está</a:t>
                      </a:r>
                      <a:r>
                        <a:rPr sz="1600" b="1" i="1" spc="16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presente</a:t>
                      </a:r>
                      <a:r>
                        <a:rPr sz="1600" b="1" i="1" spc="7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día</a:t>
                      </a:r>
                      <a:r>
                        <a:rPr sz="1600" b="1" i="1" spc="7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día—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spc="-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asistente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regulación</a:t>
                      </a:r>
                      <a:r>
                        <a:rPr sz="1600" b="1" i="1" spc="8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sensorial.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Nuestra</a:t>
                      </a:r>
                      <a:r>
                        <a:rPr sz="1600" b="1" i="1" spc="8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perspectiva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r>
                        <a:rPr sz="1600" b="1" i="1" spc="8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</a:t>
                      </a:r>
                      <a:r>
                        <a:rPr sz="1600" b="1" i="1" spc="9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solo</a:t>
                      </a:r>
                      <a:r>
                        <a:rPr sz="1600" b="1" i="1" spc="16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crear</a:t>
                      </a:r>
                      <a:r>
                        <a:rPr sz="1600" b="1" i="1" spc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</a:t>
                      </a:r>
                      <a:r>
                        <a:rPr sz="1600" b="1" i="1" spc="8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juegos,</a:t>
                      </a:r>
                      <a:r>
                        <a:rPr sz="1600" b="1" i="1" spc="1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sino</a:t>
                      </a:r>
                      <a:r>
                        <a:rPr sz="1600" b="1" i="1" spc="7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</a:t>
                      </a:r>
                      <a:r>
                        <a:rPr sz="1600" b="1" i="1" spc="8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herramienta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</a:t>
                      </a:r>
                      <a:r>
                        <a:rPr sz="1600" b="1" i="1" spc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'primeros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auxilios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emocionales'.</a:t>
                      </a:r>
                      <a:r>
                        <a:rPr sz="1600" b="1" i="1" spc="1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sz="1600" b="1" i="1" spc="9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futuro,</a:t>
                      </a:r>
                      <a:r>
                        <a:rPr sz="1600" b="1" i="1" spc="4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buscamos</a:t>
                      </a:r>
                      <a:r>
                        <a:rPr sz="1600" b="1" i="1" spc="1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implementar</a:t>
                      </a:r>
                      <a:r>
                        <a:rPr sz="1600" b="1" i="1" spc="1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una</a:t>
                      </a:r>
                      <a:r>
                        <a:rPr sz="1600" b="1" i="1" spc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solución</a:t>
                      </a:r>
                      <a:r>
                        <a:rPr sz="1600" b="1" i="1" spc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</a:t>
                      </a:r>
                      <a:r>
                        <a:rPr sz="1600" b="1" i="1" spc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aprenda</a:t>
                      </a:r>
                      <a:r>
                        <a:rPr sz="1600" b="1" i="1" spc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</a:t>
                      </a:r>
                      <a:r>
                        <a:rPr sz="1600" b="1" i="1" spc="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spc="-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los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disparadores</a:t>
                      </a:r>
                      <a:r>
                        <a:rPr sz="1600" b="1" i="1" spc="1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específicos</a:t>
                      </a:r>
                      <a:r>
                        <a:rPr sz="1600" b="1" i="1" spc="114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cada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niño,</a:t>
                      </a:r>
                      <a:r>
                        <a:rPr sz="1600" b="1" i="1" spc="1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ofreciendo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rutinas</a:t>
                      </a:r>
                      <a:r>
                        <a:rPr sz="1600" b="1" i="1" spc="1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calma</a:t>
                      </a:r>
                      <a:r>
                        <a:rPr sz="1600" b="1" i="1" spc="10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personalizadas</a:t>
                      </a:r>
                      <a:r>
                        <a:rPr sz="1600" b="1" i="1" spc="114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(visuales</a:t>
                      </a:r>
                      <a:r>
                        <a:rPr sz="1600" b="1" i="1" spc="12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sz="1600" b="1" i="1" spc="114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auditivas)</a:t>
                      </a:r>
                      <a:r>
                        <a:rPr sz="1600" b="1" i="1" spc="1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spc="-2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reduzcan</a:t>
                      </a:r>
                      <a:r>
                        <a:rPr sz="1600" b="1" i="1" spc="4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</a:t>
                      </a:r>
                      <a:r>
                        <a:rPr sz="1600" b="1" i="1" spc="8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tiempo</a:t>
                      </a:r>
                      <a:r>
                        <a:rPr sz="1600" b="1" i="1" spc="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</a:t>
                      </a:r>
                      <a:r>
                        <a:rPr sz="1600" b="1" i="1" spc="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</a:t>
                      </a:r>
                      <a:r>
                        <a:rPr sz="1600" b="1" i="1" spc="1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crisis</a:t>
                      </a:r>
                      <a:r>
                        <a:rPr sz="1600" b="1" i="1" spc="5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sz="1600" b="1" i="1" spc="5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devuelvan</a:t>
                      </a:r>
                      <a:r>
                        <a:rPr sz="1600" b="1" i="1" spc="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</a:t>
                      </a:r>
                      <a:r>
                        <a:rPr sz="1600" b="1" i="1" spc="13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sensación</a:t>
                      </a:r>
                      <a:r>
                        <a:rPr sz="1600" b="1" i="1" spc="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</a:t>
                      </a:r>
                      <a:r>
                        <a:rPr sz="1600" b="1" i="1" spc="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</a:t>
                      </a:r>
                      <a:r>
                        <a:rPr sz="1600" b="1" i="1" spc="8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sz="1600" b="1" i="1" spc="6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paz</a:t>
                      </a:r>
                      <a:r>
                        <a:rPr sz="1600" b="1" i="1" spc="5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sz="1600" b="1" i="1" spc="13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</a:t>
                      </a:r>
                      <a:r>
                        <a:rPr sz="1600" b="1" i="1" spc="4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1600" b="1" i="1" spc="-1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familia</a:t>
                      </a:r>
                      <a:endParaRPr sz="1600" b="1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ysDash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F89E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1195</Words>
  <Application>Microsoft Office PowerPoint</Application>
  <PresentationFormat>Personalizado</PresentationFormat>
  <Paragraphs>122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Arial</vt:lpstr>
      <vt:lpstr>Arial MT</vt:lpstr>
      <vt:lpstr>Calibri</vt:lpstr>
      <vt:lpstr>Cambria</vt:lpstr>
      <vt:lpstr>Tahoma</vt:lpstr>
      <vt:lpstr>Times New Roman</vt:lpstr>
      <vt:lpstr>Trebuchet MS</vt:lpstr>
      <vt:lpstr>Office Theme</vt:lpstr>
      <vt:lpstr>BASES DE LA INNOVACIÓN</vt:lpstr>
      <vt:lpstr>Equipo nº (1) TEA SÍN BARRERA</vt:lpstr>
      <vt:lpstr>ACTIVIDAD GRUPAL Nº3 INVESTIGACIÓN DE TEMAS</vt:lpstr>
      <vt:lpstr>ACTIVIDAD GRUPAL Nº4 LIENZO RESUMEN DEL DOBLE DIAMANTE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LA INNOVACIÓN</dc:title>
  <dc:creator>MARIA JOSE VILLAGRA MORALES</dc:creator>
  <cp:lastModifiedBy>MARIA JOSE VILLAGRA MORALES</cp:lastModifiedBy>
  <cp:revision>3</cp:revision>
  <dcterms:created xsi:type="dcterms:W3CDTF">2026-06-05T17:29:49Z</dcterms:created>
  <dcterms:modified xsi:type="dcterms:W3CDTF">2026-06-05T21:20:53Z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2026-06-05T00:00:00Z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2026-06-05T00:00:00Z</vt:filetime>
  </property>
</Properties>
</file>